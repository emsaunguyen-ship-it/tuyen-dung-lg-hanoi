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3" d="100"/>
          <a:sy n="153" d="100"/>
        </p:scale>
        <p:origin x="16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A89AE-CF4D-4B5F-B390-2CAAA97423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10527A-B5CE-49B0-8525-BA40A3DA40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7B54B6-6647-4C76-981A-82CBCF97C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7D07F-1C37-4603-8754-37B1FBD73B55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54A2B-BD53-4081-9105-C61C9DA5E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D3B3A4-38E2-462B-9086-AE43FB30E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9B5D-8960-46B2-B219-E18C7AD8C2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850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E5CD7-B35B-45A0-A387-8EE362D25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7B48-D001-4931-975D-FA12D5D35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E3413-DB2E-45A3-B7FA-5EDBEFA6B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7D07F-1C37-4603-8754-37B1FBD73B55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20CB60-C65C-438D-8836-9058312D8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9836B-4CC3-4631-984C-22F07C791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9B5D-8960-46B2-B219-E18C7AD8C2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750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1914A-BE39-4CB8-AD69-A11BE7769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24EA2-76BD-42E4-AF76-03828A5D3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DD2E3-9F40-4553-8CC8-B45F05890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7D07F-1C37-4603-8754-37B1FBD73B55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BF4FA5-7191-4D19-A7B1-B3B3E03BA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14E21D-EF52-4ED7-9EB9-831077F51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9B5D-8960-46B2-B219-E18C7AD8C2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034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C01DC-5CAD-4EFB-9271-1D5BFE1A9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C9694-A316-4CC9-8677-7D1490256E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A792B-B51C-4411-8CD6-28EB787808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2FD7C6-054A-4322-9152-CB8E4D6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7D07F-1C37-4603-8754-37B1FBD73B55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B07B88-E045-47EF-B1A7-EAAE184A4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2A6DE9-7E27-4EC4-9568-193DC0C7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9B5D-8960-46B2-B219-E18C7AD8C2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901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C3732-C56D-42A1-B6E3-ECAA1E2DB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2AC0DC-ED10-4D79-A96E-593339D00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BD6A0-D872-4FE7-AAE6-7723C42F41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59369B-3589-4878-89B8-A830325723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56364E-5CF5-4F17-86A4-5A768B5C92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D2B303-E0E6-4CD8-A970-7EFB3F2C6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7D07F-1C37-4603-8754-37B1FBD73B55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968E30-8B04-4BB8-9C06-32958FBB4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B8BD33-5E1B-4E10-91D1-755C66E9B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9B5D-8960-46B2-B219-E18C7AD8C2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076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1A06D-3A75-42A5-BCF4-1AFC1DD3B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415A8F-BEF7-4E8A-B74E-6DEEC8BBD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7D07F-1C37-4603-8754-37B1FBD73B55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804137-BF53-457B-B2F5-7A1B80931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86D60D-6FA2-4734-A588-DD57435F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9B5D-8960-46B2-B219-E18C7AD8C2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5961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F75D41-B54C-4D76-BC11-50CE7ED12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7D07F-1C37-4603-8754-37B1FBD73B55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7760A2-5C7E-4A37-8EB4-4378CA883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EB6D1-2B0D-49AC-937E-F5F019C4B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9B5D-8960-46B2-B219-E18C7AD8C2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92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756C3-3301-4004-9A13-7BC00E716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0C02F3-2962-4355-A9D2-219958AA0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ED04FE-C159-4F9B-8532-899CBABFB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99E429-840B-4B33-8A04-4BA88EC13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7D07F-1C37-4603-8754-37B1FBD73B55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F79F86-00E1-40A5-A6AE-85A79440A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B42CC-19E1-4998-AD18-0F2D28479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9B5D-8960-46B2-B219-E18C7AD8C2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616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2413D-5920-43C6-A7FB-329EB082E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17BB00-1CBF-405F-A847-0B7F0066EE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90CA23-2A3D-412F-972F-A6F37FDC9A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30FDA8-DCED-4B55-A3DD-31D70A5C5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7D07F-1C37-4603-8754-37B1FBD73B55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E2420C-AF8E-4CEE-990E-AC859242D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BF2AF8-0917-4698-8972-3E1AB2C80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9B5D-8960-46B2-B219-E18C7AD8C2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3692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085D4-274B-4616-9AFD-4BAB20186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DF8769-BD32-4A2E-ADD9-1BA927C0B9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10034-71D7-4A69-9E67-C775FAAFA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7D07F-1C37-4603-8754-37B1FBD73B55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AF6F1D-3F87-4B96-A704-5DEE6B4A3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F32DBA-FB6D-4FA5-A7E5-88177BEA9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9B5D-8960-46B2-B219-E18C7AD8C2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055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8F3449-77CC-41CB-A2BF-86B9B4CC5E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4BB690-3D07-4E65-BAF0-53D46BA8B9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A9909A-35C7-437F-BCC0-C3E69F9D2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7D07F-1C37-4603-8754-37B1FBD73B55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B4B26-B656-4B49-A6F2-17154BAF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8AAA3-F6CD-4D85-A200-C22996361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9B5D-8960-46B2-B219-E18C7AD8C2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819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EB1F29-0319-4C02-B047-1F603E062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4DF87B-D6FA-4FEC-BE4B-00352932E3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EC66FD-CFAB-4E03-805F-5998491818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F7D07F-1C37-4603-8754-37B1FBD73B55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C7FBEB-BF2A-4DD6-BEE4-7243434B10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D9390-8AB1-480C-9758-0834DF42E5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B29B5D-8960-46B2-B219-E18C7AD8C2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45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emsaunguyen-ship-it.github.io/Tuyen-Dung-LG-Hanoi/?v=12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emsaunguyen-ship-it.github.io/Tuyen-Dung-LG-Hanoi/?v=12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2D4727B-403A-4F9C-BE8B-CE7BEC987653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A500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599ED0-9A04-46F2-A0AB-44A1A6037799}"/>
              </a:ext>
            </a:extLst>
          </p:cNvPr>
          <p:cNvSpPr/>
          <p:nvPr/>
        </p:nvSpPr>
        <p:spPr>
          <a:xfrm>
            <a:off x="0" y="50800"/>
            <a:ext cx="12192000" cy="4826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hlinkClick r:id="rId2"/>
            <a:extLst>
              <a:ext uri="{FF2B5EF4-FFF2-40B4-BE49-F238E27FC236}">
                <a16:creationId xmlns:a16="http://schemas.microsoft.com/office/drawing/2014/main" id="{9C0DEAC9-9CD7-45DB-B2A1-24A2456F1ABC}"/>
              </a:ext>
            </a:extLst>
          </p:cNvPr>
          <p:cNvSpPr/>
          <p:nvPr/>
        </p:nvSpPr>
        <p:spPr>
          <a:xfrm>
            <a:off x="10477500" y="127000"/>
            <a:ext cx="1397000" cy="330200"/>
          </a:xfrm>
          <a:prstGeom prst="rect">
            <a:avLst/>
          </a:prstGeom>
          <a:solidFill>
            <a:srgbClr val="A500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381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Life's Good.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03C757-91F6-4843-92D7-F26B65AF47C2}"/>
              </a:ext>
            </a:extLst>
          </p:cNvPr>
          <p:cNvSpPr/>
          <p:nvPr/>
        </p:nvSpPr>
        <p:spPr>
          <a:xfrm>
            <a:off x="317500" y="584200"/>
            <a:ext cx="11557000" cy="635000"/>
          </a:xfrm>
          <a:prstGeom prst="rect">
            <a:avLst/>
          </a:prstGeom>
          <a:solidFill>
            <a:srgbClr val="F1F5F9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69180-907C-4708-A29F-4ECA260D74BF}"/>
              </a:ext>
            </a:extLst>
          </p:cNvPr>
          <p:cNvSpPr txBox="1"/>
          <p:nvPr/>
        </p:nvSpPr>
        <p:spPr>
          <a:xfrm>
            <a:off x="444500" y="622300"/>
            <a:ext cx="11303000" cy="30008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50" b="1">
                <a:solidFill>
                  <a:srgbClr val="2A170F"/>
                </a:solidFill>
                <a:latin typeface="Segoe UI" panose="020B0502040204020203" pitchFamily="34" charset="0"/>
              </a:rPr>
              <a:t>Chia Sẻ Ứng Dụng AI &amp; Bài Tập Thực Hành: Portal Tuyển Dụng LG Hanoi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5A1EBB-26E3-4D5B-B88C-82B38F036AD2}"/>
              </a:ext>
            </a:extLst>
          </p:cNvPr>
          <p:cNvSpPr txBox="1"/>
          <p:nvPr/>
        </p:nvSpPr>
        <p:spPr>
          <a:xfrm>
            <a:off x="444500" y="914400"/>
            <a:ext cx="11303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BR" sz="900">
                <a:solidFill>
                  <a:srgbClr val="475569"/>
                </a:solidFill>
                <a:latin typeface="Segoe UI" panose="020B0502040204020203" pitchFamily="34" charset="0"/>
              </a:rPr>
              <a:t>Chủ động bứt phá ranh giới R&amp;R</a:t>
            </a:r>
            <a:endParaRPr lang="en-US" sz="900">
              <a:solidFill>
                <a:srgbClr val="475569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 7">
            <a:hlinkClick r:id="rId2"/>
            <a:extLst>
              <a:ext uri="{FF2B5EF4-FFF2-40B4-BE49-F238E27FC236}">
                <a16:creationId xmlns:a16="http://schemas.microsoft.com/office/drawing/2014/main" id="{19201E95-89A9-43EC-A5A3-B2393C67CD5E}"/>
              </a:ext>
            </a:extLst>
          </p:cNvPr>
          <p:cNvSpPr/>
          <p:nvPr/>
        </p:nvSpPr>
        <p:spPr>
          <a:xfrm>
            <a:off x="317500" y="1270000"/>
            <a:ext cx="56515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0E8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hlinkClick r:id="rId2"/>
            <a:extLst>
              <a:ext uri="{FF2B5EF4-FFF2-40B4-BE49-F238E27FC236}">
                <a16:creationId xmlns:a16="http://schemas.microsoft.com/office/drawing/2014/main" id="{99099D70-7542-4B33-AEA6-18EC0AC1E8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1524000"/>
            <a:ext cx="1778000" cy="1778000"/>
          </a:xfrm>
          <a:prstGeom prst="rect">
            <a:avLst/>
          </a:prstGeom>
        </p:spPr>
      </p:pic>
      <p:sp>
        <p:nvSpPr>
          <p:cNvPr id="11" name="Rectangle 10">
            <a:hlinkClick r:id="rId2"/>
            <a:extLst>
              <a:ext uri="{FF2B5EF4-FFF2-40B4-BE49-F238E27FC236}">
                <a16:creationId xmlns:a16="http://schemas.microsoft.com/office/drawing/2014/main" id="{0715C531-A512-4F90-867C-B3FCE8F36EC8}"/>
              </a:ext>
            </a:extLst>
          </p:cNvPr>
          <p:cNvSpPr/>
          <p:nvPr/>
        </p:nvSpPr>
        <p:spPr>
          <a:xfrm>
            <a:off x="2374900" y="1397000"/>
            <a:ext cx="1968500" cy="254000"/>
          </a:xfrm>
          <a:prstGeom prst="rect">
            <a:avLst/>
          </a:prstGeom>
          <a:solidFill>
            <a:srgbClr val="FFE8F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25400" rtlCol="0" anchor="ctr"/>
          <a:lstStyle/>
          <a:p>
            <a:pPr algn="ctr"/>
            <a:r>
              <a:rPr lang="pt-BR" sz="850" b="1">
                <a:solidFill>
                  <a:srgbClr val="ED3A7C"/>
                </a:solidFill>
                <a:latin typeface="Segoe UI" panose="020B0502040204020203" pitchFamily="34" charset="0"/>
              </a:rPr>
              <a:t>[1. BỨT PHÁ RANH GIỚI R&amp;R]</a:t>
            </a:r>
            <a:endParaRPr lang="en-US" sz="850" b="1">
              <a:solidFill>
                <a:srgbClr val="ED3A7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0DB431-F66B-4885-8AF8-886E5643A0D4}"/>
              </a:ext>
            </a:extLst>
          </p:cNvPr>
          <p:cNvSpPr txBox="1"/>
          <p:nvPr/>
        </p:nvSpPr>
        <p:spPr>
          <a:xfrm>
            <a:off x="2374900" y="1676400"/>
            <a:ext cx="3467100" cy="2539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it-IT" sz="1050" b="1">
                <a:solidFill>
                  <a:srgbClr val="2A170F"/>
                </a:solidFill>
                <a:latin typeface="Segoe UI" panose="020B0502040204020203" pitchFamily="34" charset="0"/>
              </a:rPr>
              <a:t>1. Bứt Phá Rào Cản R&amp;R - AI Non-Tech</a:t>
            </a:r>
            <a:endParaRPr lang="en-US" sz="1050" b="1">
              <a:solidFill>
                <a:srgbClr val="2A170F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FB73F0-5998-4E85-B0E7-95D90485A89A}"/>
              </a:ext>
            </a:extLst>
          </p:cNvPr>
          <p:cNvSpPr txBox="1"/>
          <p:nvPr/>
        </p:nvSpPr>
        <p:spPr>
          <a:xfrm>
            <a:off x="2374900" y="1968500"/>
            <a:ext cx="3467100" cy="74635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vi-VN" sz="850">
                <a:solidFill>
                  <a:srgbClr val="554133"/>
                </a:solidFill>
                <a:latin typeface="Segoe UI" panose="020B0502040204020203" pitchFamily="34" charset="0"/>
              </a:rPr>
              <a:t>• Vượt ranh giới R&amp;R: Dù là người Mua sắm (Sales &amp; Marketing) không có kiến thức IT &amp; HR, vẫn tự lập được Cổng tuyển dụng thực tế.
• Tự động hóa nhờ AI: AI hỗ trợ thu thập dữ liệu (data) và tự động kiểm duyệt trang web hoàn chỉnh.</a:t>
            </a:r>
            <a:endParaRPr lang="en-US" sz="850">
              <a:solidFill>
                <a:srgbClr val="554133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 13">
            <a:hlinkClick r:id="rId2"/>
            <a:extLst>
              <a:ext uri="{FF2B5EF4-FFF2-40B4-BE49-F238E27FC236}">
                <a16:creationId xmlns:a16="http://schemas.microsoft.com/office/drawing/2014/main" id="{55149E50-1A5F-4234-BB67-6493389A3BA8}"/>
              </a:ext>
            </a:extLst>
          </p:cNvPr>
          <p:cNvSpPr/>
          <p:nvPr/>
        </p:nvSpPr>
        <p:spPr>
          <a:xfrm>
            <a:off x="2374900" y="3149600"/>
            <a:ext cx="1841500" cy="254000"/>
          </a:xfrm>
          <a:prstGeom prst="rect">
            <a:avLst/>
          </a:prstGeom>
          <a:solidFill>
            <a:srgbClr val="ED3A7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Live Website Product</a:t>
            </a:r>
          </a:p>
        </p:txBody>
      </p:sp>
      <p:sp>
        <p:nvSpPr>
          <p:cNvPr id="15" name="Rectangle 14">
            <a:hlinkClick r:id="rId2"/>
            <a:extLst>
              <a:ext uri="{FF2B5EF4-FFF2-40B4-BE49-F238E27FC236}">
                <a16:creationId xmlns:a16="http://schemas.microsoft.com/office/drawing/2014/main" id="{EF29850A-2D86-4DA0-93E5-451247D569D1}"/>
              </a:ext>
            </a:extLst>
          </p:cNvPr>
          <p:cNvSpPr/>
          <p:nvPr/>
        </p:nvSpPr>
        <p:spPr>
          <a:xfrm>
            <a:off x="6223000" y="1270000"/>
            <a:ext cx="56515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0E8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hlinkClick r:id="rId2"/>
            <a:extLst>
              <a:ext uri="{FF2B5EF4-FFF2-40B4-BE49-F238E27FC236}">
                <a16:creationId xmlns:a16="http://schemas.microsoft.com/office/drawing/2014/main" id="{91543019-E27C-4F6F-A851-60BF15A40D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400" y="1524000"/>
            <a:ext cx="1778000" cy="1778000"/>
          </a:xfrm>
          <a:prstGeom prst="rect">
            <a:avLst/>
          </a:prstGeom>
        </p:spPr>
      </p:pic>
      <p:sp>
        <p:nvSpPr>
          <p:cNvPr id="18" name="Rectangle 17">
            <a:hlinkClick r:id="rId2"/>
            <a:extLst>
              <a:ext uri="{FF2B5EF4-FFF2-40B4-BE49-F238E27FC236}">
                <a16:creationId xmlns:a16="http://schemas.microsoft.com/office/drawing/2014/main" id="{FE75A572-5BBB-48A0-8AEE-5C0804F7C79D}"/>
              </a:ext>
            </a:extLst>
          </p:cNvPr>
          <p:cNvSpPr/>
          <p:nvPr/>
        </p:nvSpPr>
        <p:spPr>
          <a:xfrm>
            <a:off x="8280400" y="1397000"/>
            <a:ext cx="1968500" cy="254000"/>
          </a:xfrm>
          <a:prstGeom prst="rect">
            <a:avLst/>
          </a:prstGeom>
          <a:solidFill>
            <a:srgbClr val="FEEAD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25400" rtlCol="0" anchor="ctr"/>
          <a:lstStyle/>
          <a:p>
            <a:pPr algn="ctr"/>
            <a:r>
              <a:rPr lang="en-US" sz="850" b="1">
                <a:solidFill>
                  <a:srgbClr val="D84E1D"/>
                </a:solidFill>
                <a:latin typeface="Segoe UI" panose="020B0502040204020203" pitchFamily="34" charset="0"/>
              </a:rPr>
              <a:t>[2. ĐỔI MỚI KÊNH THU HÚT]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149688-8692-4B23-B6B1-FF1F57DC723B}"/>
              </a:ext>
            </a:extLst>
          </p:cNvPr>
          <p:cNvSpPr txBox="1"/>
          <p:nvPr/>
        </p:nvSpPr>
        <p:spPr>
          <a:xfrm>
            <a:off x="8280400" y="1676400"/>
            <a:ext cx="3467100" cy="2539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b="1">
                <a:solidFill>
                  <a:srgbClr val="2A170F"/>
                </a:solidFill>
                <a:latin typeface="Segoe UI" panose="020B0502040204020203" pitchFamily="34" charset="0"/>
              </a:rPr>
              <a:t>2. Đổi Mới Kênh Thu Hút Nhân Tài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444BA0-5AB0-4C01-8166-9E1FDAF6E792}"/>
              </a:ext>
            </a:extLst>
          </p:cNvPr>
          <p:cNvSpPr txBox="1"/>
          <p:nvPr/>
        </p:nvSpPr>
        <p:spPr>
          <a:xfrm>
            <a:off x="8280400" y="1968500"/>
            <a:ext cx="3467100" cy="74635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vi-VN" sz="850">
                <a:solidFill>
                  <a:srgbClr val="554133"/>
                </a:solidFill>
                <a:latin typeface="Segoe UI" panose="020B0502040204020203" pitchFamily="34" charset="0"/>
              </a:rPr>
              <a:t>• Trải nghiệm số hóa: Nộp CV 1-Click Apply chuẩn nhận diện LG (Life's Good), nâng cao trải nghiệm ứng viên.
• Độ tin cậy cao: Dẫn link trực tiếp về trang web chính thức, minh bạch lịch sử công ty &amp; cập nhật hoạt động người thật việc thật hàng ngày.</a:t>
            </a:r>
            <a:endParaRPr lang="en-US" sz="850">
              <a:solidFill>
                <a:srgbClr val="554133"/>
              </a:solidFill>
              <a:latin typeface="Segoe UI" panose="020B0502040204020203" pitchFamily="34" charset="0"/>
            </a:endParaRPr>
          </a:p>
        </p:txBody>
      </p:sp>
      <p:sp>
        <p:nvSpPr>
          <p:cNvPr id="21" name="Rectangle 20">
            <a:hlinkClick r:id="rId2"/>
            <a:extLst>
              <a:ext uri="{FF2B5EF4-FFF2-40B4-BE49-F238E27FC236}">
                <a16:creationId xmlns:a16="http://schemas.microsoft.com/office/drawing/2014/main" id="{E6285855-6646-45BE-8A2F-8BC2B5A13461}"/>
              </a:ext>
            </a:extLst>
          </p:cNvPr>
          <p:cNvSpPr/>
          <p:nvPr/>
        </p:nvSpPr>
        <p:spPr>
          <a:xfrm>
            <a:off x="8280400" y="3149600"/>
            <a:ext cx="1841500" cy="254000"/>
          </a:xfrm>
          <a:prstGeom prst="rect">
            <a:avLst/>
          </a:prstGeom>
          <a:solidFill>
            <a:srgbClr val="D84E1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Execution Velocity</a:t>
            </a:r>
          </a:p>
        </p:txBody>
      </p:sp>
      <p:sp>
        <p:nvSpPr>
          <p:cNvPr id="22" name="Rectangle 21">
            <a:hlinkClick r:id="rId2"/>
            <a:extLst>
              <a:ext uri="{FF2B5EF4-FFF2-40B4-BE49-F238E27FC236}">
                <a16:creationId xmlns:a16="http://schemas.microsoft.com/office/drawing/2014/main" id="{71C1F82C-F284-4AF6-9FD5-26B40794D2A4}"/>
              </a:ext>
            </a:extLst>
          </p:cNvPr>
          <p:cNvSpPr/>
          <p:nvPr/>
        </p:nvSpPr>
        <p:spPr>
          <a:xfrm>
            <a:off x="317500" y="3657600"/>
            <a:ext cx="56515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0E8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>
            <a:hlinkClick r:id="rId2"/>
            <a:extLst>
              <a:ext uri="{FF2B5EF4-FFF2-40B4-BE49-F238E27FC236}">
                <a16:creationId xmlns:a16="http://schemas.microsoft.com/office/drawing/2014/main" id="{3EE491AC-9FA4-40D1-95F6-FE70BAB0D9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3911600"/>
            <a:ext cx="1778000" cy="1778000"/>
          </a:xfrm>
          <a:prstGeom prst="rect">
            <a:avLst/>
          </a:prstGeom>
        </p:spPr>
      </p:pic>
      <p:sp>
        <p:nvSpPr>
          <p:cNvPr id="25" name="Rectangle 24">
            <a:hlinkClick r:id="rId2"/>
            <a:extLst>
              <a:ext uri="{FF2B5EF4-FFF2-40B4-BE49-F238E27FC236}">
                <a16:creationId xmlns:a16="http://schemas.microsoft.com/office/drawing/2014/main" id="{7EADCE1F-80EC-45C4-A94A-54574A2F8806}"/>
              </a:ext>
            </a:extLst>
          </p:cNvPr>
          <p:cNvSpPr/>
          <p:nvPr/>
        </p:nvSpPr>
        <p:spPr>
          <a:xfrm>
            <a:off x="2374900" y="3784600"/>
            <a:ext cx="1968500" cy="254000"/>
          </a:xfrm>
          <a:prstGeom prst="rect">
            <a:avLst/>
          </a:prstGeom>
          <a:solidFill>
            <a:srgbClr val="F3E8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25400" rtlCol="0" anchor="ctr"/>
          <a:lstStyle/>
          <a:p>
            <a:pPr algn="ctr"/>
            <a:r>
              <a:rPr lang="en-US" sz="850" b="1">
                <a:solidFill>
                  <a:srgbClr val="A50034"/>
                </a:solidFill>
                <a:latin typeface="Segoe UI" panose="020B0502040204020203" pitchFamily="34" charset="0"/>
              </a:rPr>
              <a:t>[3. XỬ LÝ NGHỄN TỪ SỚM]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86A838-0599-4983-A880-82BB51F93A8F}"/>
              </a:ext>
            </a:extLst>
          </p:cNvPr>
          <p:cNvSpPr txBox="1"/>
          <p:nvPr/>
        </p:nvSpPr>
        <p:spPr>
          <a:xfrm>
            <a:off x="2374900" y="4064000"/>
            <a:ext cx="3467100" cy="2539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b="1">
                <a:solidFill>
                  <a:srgbClr val="2A170F"/>
                </a:solidFill>
                <a:latin typeface="Segoe UI" panose="020B0502040204020203" pitchFamily="34" charset="0"/>
              </a:rPr>
              <a:t>3. Xử Lý Rủi Ro Vận Hành Từ Sớm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C530017-38C0-4048-A23C-3C13EBC60BE9}"/>
              </a:ext>
            </a:extLst>
          </p:cNvPr>
          <p:cNvSpPr txBox="1"/>
          <p:nvPr/>
        </p:nvSpPr>
        <p:spPr>
          <a:xfrm>
            <a:off x="2374900" y="4356100"/>
            <a:ext cx="34671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vi-VN" sz="850">
                <a:solidFill>
                  <a:srgbClr val="554133"/>
                </a:solidFill>
                <a:latin typeface="Segoe UI" panose="020B0502040204020203" pitchFamily="34" charset="0"/>
              </a:rPr>
              <a:t>• Phòng ngừa rủi ro KTV Service: Kết hợp linh hoạt 2 kênh (Cổng đăng tuyển trực tiếp LG + Tích hợp Agency uy tín trên thị trường).
• Trực quan công việc: Tích hợp clip Premier Care thực tế giúp ứng viên dễ dàng hình dung vị trí ứng tuyển.</a:t>
            </a:r>
            <a:endParaRPr lang="en-US" sz="850">
              <a:solidFill>
                <a:srgbClr val="554133"/>
              </a:solidFill>
              <a:latin typeface="Segoe UI" panose="020B0502040204020203" pitchFamily="34" charset="0"/>
            </a:endParaRPr>
          </a:p>
        </p:txBody>
      </p:sp>
      <p:sp>
        <p:nvSpPr>
          <p:cNvPr id="28" name="Rectangle 27">
            <a:hlinkClick r:id="rId2"/>
            <a:extLst>
              <a:ext uri="{FF2B5EF4-FFF2-40B4-BE49-F238E27FC236}">
                <a16:creationId xmlns:a16="http://schemas.microsoft.com/office/drawing/2014/main" id="{C382E101-66F1-4FE3-9A0E-6D00A55EB8D9}"/>
              </a:ext>
            </a:extLst>
          </p:cNvPr>
          <p:cNvSpPr/>
          <p:nvPr/>
        </p:nvSpPr>
        <p:spPr>
          <a:xfrm>
            <a:off x="2374900" y="5537200"/>
            <a:ext cx="1841500" cy="254000"/>
          </a:xfrm>
          <a:prstGeom prst="rect">
            <a:avLst/>
          </a:prstGeom>
          <a:solidFill>
            <a:srgbClr val="A500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2 Hiring Solutions</a:t>
            </a:r>
          </a:p>
        </p:txBody>
      </p:sp>
      <p:sp>
        <p:nvSpPr>
          <p:cNvPr id="29" name="Rectangle 28">
            <a:hlinkClick r:id="rId2"/>
            <a:extLst>
              <a:ext uri="{FF2B5EF4-FFF2-40B4-BE49-F238E27FC236}">
                <a16:creationId xmlns:a16="http://schemas.microsoft.com/office/drawing/2014/main" id="{DC072043-B136-458B-AF56-DFBB8186C23D}"/>
              </a:ext>
            </a:extLst>
          </p:cNvPr>
          <p:cNvSpPr/>
          <p:nvPr/>
        </p:nvSpPr>
        <p:spPr>
          <a:xfrm>
            <a:off x="6223000" y="3657600"/>
            <a:ext cx="56515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0E8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hlinkClick r:id="rId2"/>
            <a:extLst>
              <a:ext uri="{FF2B5EF4-FFF2-40B4-BE49-F238E27FC236}">
                <a16:creationId xmlns:a16="http://schemas.microsoft.com/office/drawing/2014/main" id="{858E061B-9CFF-40D5-BEEF-EB7DC8AF817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400" y="3911600"/>
            <a:ext cx="1778000" cy="1778000"/>
          </a:xfrm>
          <a:prstGeom prst="rect">
            <a:avLst/>
          </a:prstGeom>
        </p:spPr>
      </p:pic>
      <p:sp>
        <p:nvSpPr>
          <p:cNvPr id="32" name="Rectangle 31">
            <a:hlinkClick r:id="rId2"/>
            <a:extLst>
              <a:ext uri="{FF2B5EF4-FFF2-40B4-BE49-F238E27FC236}">
                <a16:creationId xmlns:a16="http://schemas.microsoft.com/office/drawing/2014/main" id="{BF1C03B2-1E6F-43F2-BC91-80BFF7FD6400}"/>
              </a:ext>
            </a:extLst>
          </p:cNvPr>
          <p:cNvSpPr/>
          <p:nvPr/>
        </p:nvSpPr>
        <p:spPr>
          <a:xfrm>
            <a:off x="8280400" y="3784600"/>
            <a:ext cx="1968500" cy="254000"/>
          </a:xfrm>
          <a:prstGeom prst="rect">
            <a:avLst/>
          </a:prstGeom>
          <a:solidFill>
            <a:srgbClr val="E7FC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25400" rtlCol="0" anchor="ctr"/>
          <a:lstStyle/>
          <a:p>
            <a:pPr algn="ctr"/>
            <a:r>
              <a:rPr lang="en-US" sz="850" b="1">
                <a:solidFill>
                  <a:srgbClr val="3D8015"/>
                </a:solidFill>
                <a:latin typeface="Segoe UI" panose="020B0502040204020203" pitchFamily="34" charset="0"/>
              </a:rPr>
              <a:t>[4. PHỐI HỢP NỘI BỘ]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E837DBC-36EF-420A-86F0-8FBA11746B75}"/>
              </a:ext>
            </a:extLst>
          </p:cNvPr>
          <p:cNvSpPr txBox="1"/>
          <p:nvPr/>
        </p:nvSpPr>
        <p:spPr>
          <a:xfrm>
            <a:off x="8280400" y="4064000"/>
            <a:ext cx="3467100" cy="2539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b="1">
                <a:solidFill>
                  <a:srgbClr val="2A170F"/>
                </a:solidFill>
                <a:latin typeface="Segoe UI" panose="020B0502040204020203" pitchFamily="34" charset="0"/>
              </a:rPr>
              <a:t>4. Tự Động Hóa &amp; Phối Hợp Liên Phòng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D6AE27-A8F4-4D0A-9166-0CE2A02A926F}"/>
              </a:ext>
            </a:extLst>
          </p:cNvPr>
          <p:cNvSpPr txBox="1"/>
          <p:nvPr/>
        </p:nvSpPr>
        <p:spPr>
          <a:xfrm>
            <a:off x="8280400" y="4356100"/>
            <a:ext cx="34671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850">
                <a:solidFill>
                  <a:srgbClr val="554133"/>
                </a:solidFill>
                <a:latin typeface="Segoe UI" panose="020B0502040204020203" pitchFamily="34" charset="0"/>
              </a:rPr>
              <a:t>• Tự động hóa luồng CV: Tổng hợp báo cáo Excel thời gian thực &amp; phát thông báo email tức thì cho HR team.
• Xóa khoảng trống thông tin: Kết nối dữ liệu liền mạch giữa HR team và Khối Dịch vụ.</a:t>
            </a:r>
          </a:p>
        </p:txBody>
      </p:sp>
      <p:sp>
        <p:nvSpPr>
          <p:cNvPr id="35" name="Rectangle 34">
            <a:hlinkClick r:id="rId2"/>
            <a:extLst>
              <a:ext uri="{FF2B5EF4-FFF2-40B4-BE49-F238E27FC236}">
                <a16:creationId xmlns:a16="http://schemas.microsoft.com/office/drawing/2014/main" id="{922B89D5-FE0E-46E6-861F-EB49F429A7E1}"/>
              </a:ext>
            </a:extLst>
          </p:cNvPr>
          <p:cNvSpPr/>
          <p:nvPr/>
        </p:nvSpPr>
        <p:spPr>
          <a:xfrm>
            <a:off x="8280400" y="5537200"/>
            <a:ext cx="1841500" cy="254000"/>
          </a:xfrm>
          <a:prstGeom prst="rect">
            <a:avLst/>
          </a:prstGeom>
          <a:solidFill>
            <a:srgbClr val="3D801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Auto-Excel &amp; Email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AD74803-D547-401A-BBB9-0F209B673491}"/>
              </a:ext>
            </a:extLst>
          </p:cNvPr>
          <p:cNvSpPr/>
          <p:nvPr/>
        </p:nvSpPr>
        <p:spPr>
          <a:xfrm>
            <a:off x="0" y="6096000"/>
            <a:ext cx="12192000" cy="76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0B3369-F6E0-48EA-AF4D-7362F42B8D4E}"/>
              </a:ext>
            </a:extLst>
          </p:cNvPr>
          <p:cNvSpPr txBox="1"/>
          <p:nvPr/>
        </p:nvSpPr>
        <p:spPr>
          <a:xfrm>
            <a:off x="317500" y="6223000"/>
            <a:ext cx="6096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475569"/>
                </a:solidFill>
                <a:latin typeface="Segoe UI" panose="020B0502040204020203" pitchFamily="34" charset="0"/>
              </a:rPr>
              <a:t>(C) LG Electronics Vietnam - Sales &amp; Marketing Procurement
AI Partner: Antigravity AI (Google DeepMind)</a:t>
            </a:r>
          </a:p>
        </p:txBody>
      </p:sp>
      <p:sp>
        <p:nvSpPr>
          <p:cNvPr id="38" name="Rectangle 37">
            <a:hlinkClick r:id="rId2"/>
            <a:extLst>
              <a:ext uri="{FF2B5EF4-FFF2-40B4-BE49-F238E27FC236}">
                <a16:creationId xmlns:a16="http://schemas.microsoft.com/office/drawing/2014/main" id="{6B9973CB-77E2-4BDE-A1CC-BC2051C0A9C6}"/>
              </a:ext>
            </a:extLst>
          </p:cNvPr>
          <p:cNvSpPr/>
          <p:nvPr/>
        </p:nvSpPr>
        <p:spPr>
          <a:xfrm>
            <a:off x="7112000" y="6248400"/>
            <a:ext cx="4762500" cy="355600"/>
          </a:xfrm>
          <a:prstGeom prst="rect">
            <a:avLst/>
          </a:prstGeom>
          <a:solidFill>
            <a:srgbClr val="A500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Segoe UI" panose="020B0502040204020203" pitchFamily="34" charset="0"/>
              </a:rPr>
              <a:t>Live Portal: https://emsaunguyen-ship-it.github.io/Tuyen-Dung-LG-Hanoi/?v=12</a:t>
            </a:r>
          </a:p>
        </p:txBody>
      </p:sp>
    </p:spTree>
    <p:extLst>
      <p:ext uri="{BB962C8B-B14F-4D97-AF65-F5344CB8AC3E}">
        <p14:creationId xmlns:p14="http://schemas.microsoft.com/office/powerpoint/2010/main" val="15430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3356E9-BA68-4598-AFFB-340C5C9156B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A500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156F35-0645-4BE2-962D-144102BEF6B2}"/>
              </a:ext>
            </a:extLst>
          </p:cNvPr>
          <p:cNvSpPr/>
          <p:nvPr/>
        </p:nvSpPr>
        <p:spPr>
          <a:xfrm>
            <a:off x="0" y="50800"/>
            <a:ext cx="12192000" cy="4826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hlinkClick r:id="rId2"/>
            <a:extLst>
              <a:ext uri="{FF2B5EF4-FFF2-40B4-BE49-F238E27FC236}">
                <a16:creationId xmlns:a16="http://schemas.microsoft.com/office/drawing/2014/main" id="{7F050082-5077-49F0-9A30-3692E7CBC048}"/>
              </a:ext>
            </a:extLst>
          </p:cNvPr>
          <p:cNvSpPr/>
          <p:nvPr/>
        </p:nvSpPr>
        <p:spPr>
          <a:xfrm>
            <a:off x="10477500" y="127000"/>
            <a:ext cx="1397000" cy="330200"/>
          </a:xfrm>
          <a:prstGeom prst="rect">
            <a:avLst/>
          </a:prstGeom>
          <a:solidFill>
            <a:srgbClr val="A500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3810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Segoe UI" panose="020B0502040204020203" pitchFamily="34" charset="0"/>
              </a:rPr>
              <a:t>Life's Good.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01E890-3D7B-422D-87C8-42563C218383}"/>
              </a:ext>
            </a:extLst>
          </p:cNvPr>
          <p:cNvSpPr/>
          <p:nvPr/>
        </p:nvSpPr>
        <p:spPr>
          <a:xfrm>
            <a:off x="317500" y="584200"/>
            <a:ext cx="11557000" cy="635000"/>
          </a:xfrm>
          <a:prstGeom prst="rect">
            <a:avLst/>
          </a:prstGeom>
          <a:solidFill>
            <a:srgbClr val="F1F5F9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7D5576-27B1-41C7-9D57-033D1D11C203}"/>
              </a:ext>
            </a:extLst>
          </p:cNvPr>
          <p:cNvSpPr txBox="1"/>
          <p:nvPr/>
        </p:nvSpPr>
        <p:spPr>
          <a:xfrm>
            <a:off x="444500" y="622300"/>
            <a:ext cx="11303000" cy="30008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50" b="1">
                <a:solidFill>
                  <a:srgbClr val="2A170F"/>
                </a:solidFill>
                <a:latin typeface="Segoe UI" panose="020B0502040204020203" pitchFamily="34" charset="0"/>
              </a:rPr>
              <a:t>AI Application Sharing &amp; Case Study: LG Hanoi Recruitment Portal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98DCBD-F85B-4A9A-B826-812C2DDB6DD7}"/>
              </a:ext>
            </a:extLst>
          </p:cNvPr>
          <p:cNvSpPr txBox="1"/>
          <p:nvPr/>
        </p:nvSpPr>
        <p:spPr>
          <a:xfrm>
            <a:off x="444500" y="914400"/>
            <a:ext cx="11303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475569"/>
                </a:solidFill>
                <a:latin typeface="Segoe UI" panose="020B0502040204020203" pitchFamily="34" charset="0"/>
              </a:rPr>
              <a:t>Proactive Scope Expansion</a:t>
            </a:r>
          </a:p>
        </p:txBody>
      </p:sp>
      <p:sp>
        <p:nvSpPr>
          <p:cNvPr id="8" name="Rectangle 7">
            <a:hlinkClick r:id="rId2"/>
            <a:extLst>
              <a:ext uri="{FF2B5EF4-FFF2-40B4-BE49-F238E27FC236}">
                <a16:creationId xmlns:a16="http://schemas.microsoft.com/office/drawing/2014/main" id="{84C58E01-FE2B-4DF0-AD5E-D93B623E2FED}"/>
              </a:ext>
            </a:extLst>
          </p:cNvPr>
          <p:cNvSpPr/>
          <p:nvPr/>
        </p:nvSpPr>
        <p:spPr>
          <a:xfrm>
            <a:off x="317500" y="1270000"/>
            <a:ext cx="56515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0E8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hlinkClick r:id="rId2"/>
            <a:extLst>
              <a:ext uri="{FF2B5EF4-FFF2-40B4-BE49-F238E27FC236}">
                <a16:creationId xmlns:a16="http://schemas.microsoft.com/office/drawing/2014/main" id="{6A29E58C-B52F-47F2-97F2-AADAAC87A7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1524000"/>
            <a:ext cx="1778000" cy="1778000"/>
          </a:xfrm>
          <a:prstGeom prst="rect">
            <a:avLst/>
          </a:prstGeom>
        </p:spPr>
      </p:pic>
      <p:sp>
        <p:nvSpPr>
          <p:cNvPr id="11" name="Rectangle 10">
            <a:hlinkClick r:id="rId2"/>
            <a:extLst>
              <a:ext uri="{FF2B5EF4-FFF2-40B4-BE49-F238E27FC236}">
                <a16:creationId xmlns:a16="http://schemas.microsoft.com/office/drawing/2014/main" id="{BF3D9BC6-DE50-4270-8BB2-26F1644BFDB8}"/>
              </a:ext>
            </a:extLst>
          </p:cNvPr>
          <p:cNvSpPr/>
          <p:nvPr/>
        </p:nvSpPr>
        <p:spPr>
          <a:xfrm>
            <a:off x="2374900" y="1397000"/>
            <a:ext cx="1968500" cy="254000"/>
          </a:xfrm>
          <a:prstGeom prst="rect">
            <a:avLst/>
          </a:prstGeom>
          <a:solidFill>
            <a:srgbClr val="FFE8F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25400" rtlCol="0" anchor="ctr"/>
          <a:lstStyle/>
          <a:p>
            <a:pPr algn="ctr"/>
            <a:r>
              <a:rPr lang="en-US" sz="850" b="1">
                <a:solidFill>
                  <a:srgbClr val="ED3A7C"/>
                </a:solidFill>
                <a:latin typeface="Segoe UI" panose="020B0502040204020203" pitchFamily="34" charset="0"/>
              </a:rPr>
              <a:t>[1. BEYOND SCOPE &amp; BOUNDARIES]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0FD00D-3A1D-4DB8-9339-20C7736C996C}"/>
              </a:ext>
            </a:extLst>
          </p:cNvPr>
          <p:cNvSpPr txBox="1"/>
          <p:nvPr/>
        </p:nvSpPr>
        <p:spPr>
          <a:xfrm>
            <a:off x="2374900" y="1676400"/>
            <a:ext cx="3467100" cy="2539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b="1">
                <a:solidFill>
                  <a:srgbClr val="2A170F"/>
                </a:solidFill>
                <a:latin typeface="Segoe UI" panose="020B0502040204020203" pitchFamily="34" charset="0"/>
              </a:rPr>
              <a:t>1. Beyond Scope - Non-Tech AI Breakthrough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A2ACE0-48CB-45C0-934E-1C7037B074AB}"/>
              </a:ext>
            </a:extLst>
          </p:cNvPr>
          <p:cNvSpPr txBox="1"/>
          <p:nvPr/>
        </p:nvSpPr>
        <p:spPr>
          <a:xfrm>
            <a:off x="2374900" y="1968500"/>
            <a:ext cx="34671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850">
                <a:solidFill>
                  <a:srgbClr val="554133"/>
                </a:solidFill>
                <a:latin typeface="Segoe UI" panose="020B0502040204020203" pitchFamily="34" charset="0"/>
              </a:rPr>
              <a:t>• Beyond R&amp;R Scope: As a Sales &amp; Marketing Procurement person with no IT or HR background, I built a live hiring portal using AI.
• AI Data Automation: AI auto-collects data and validates web features cleanly.</a:t>
            </a:r>
          </a:p>
        </p:txBody>
      </p:sp>
      <p:sp>
        <p:nvSpPr>
          <p:cNvPr id="14" name="Rectangle 13">
            <a:hlinkClick r:id="rId2"/>
            <a:extLst>
              <a:ext uri="{FF2B5EF4-FFF2-40B4-BE49-F238E27FC236}">
                <a16:creationId xmlns:a16="http://schemas.microsoft.com/office/drawing/2014/main" id="{335EF037-67B6-4AF5-AED4-41930F2C4941}"/>
              </a:ext>
            </a:extLst>
          </p:cNvPr>
          <p:cNvSpPr/>
          <p:nvPr/>
        </p:nvSpPr>
        <p:spPr>
          <a:xfrm>
            <a:off x="2374900" y="3149600"/>
            <a:ext cx="1841500" cy="254000"/>
          </a:xfrm>
          <a:prstGeom prst="rect">
            <a:avLst/>
          </a:prstGeom>
          <a:solidFill>
            <a:srgbClr val="ED3A7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Live Website Product</a:t>
            </a:r>
          </a:p>
        </p:txBody>
      </p:sp>
      <p:sp>
        <p:nvSpPr>
          <p:cNvPr id="15" name="Rectangle 14">
            <a:hlinkClick r:id="rId2"/>
            <a:extLst>
              <a:ext uri="{FF2B5EF4-FFF2-40B4-BE49-F238E27FC236}">
                <a16:creationId xmlns:a16="http://schemas.microsoft.com/office/drawing/2014/main" id="{9605BCCD-B008-4EDE-A4AB-AB3DE79B0DE4}"/>
              </a:ext>
            </a:extLst>
          </p:cNvPr>
          <p:cNvSpPr/>
          <p:nvPr/>
        </p:nvSpPr>
        <p:spPr>
          <a:xfrm>
            <a:off x="6223000" y="1270000"/>
            <a:ext cx="56515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0E8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hlinkClick r:id="rId2"/>
            <a:extLst>
              <a:ext uri="{FF2B5EF4-FFF2-40B4-BE49-F238E27FC236}">
                <a16:creationId xmlns:a16="http://schemas.microsoft.com/office/drawing/2014/main" id="{4B4C5C18-69A0-4B49-BAB9-331411E2E2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400" y="1524000"/>
            <a:ext cx="1778000" cy="1778000"/>
          </a:xfrm>
          <a:prstGeom prst="rect">
            <a:avLst/>
          </a:prstGeom>
        </p:spPr>
      </p:pic>
      <p:sp>
        <p:nvSpPr>
          <p:cNvPr id="18" name="Rectangle 17">
            <a:hlinkClick r:id="rId2"/>
            <a:extLst>
              <a:ext uri="{FF2B5EF4-FFF2-40B4-BE49-F238E27FC236}">
                <a16:creationId xmlns:a16="http://schemas.microsoft.com/office/drawing/2014/main" id="{2F27575B-6700-4E43-A512-793C5157116F}"/>
              </a:ext>
            </a:extLst>
          </p:cNvPr>
          <p:cNvSpPr/>
          <p:nvPr/>
        </p:nvSpPr>
        <p:spPr>
          <a:xfrm>
            <a:off x="8280400" y="1397000"/>
            <a:ext cx="1968500" cy="254000"/>
          </a:xfrm>
          <a:prstGeom prst="rect">
            <a:avLst/>
          </a:prstGeom>
          <a:solidFill>
            <a:srgbClr val="FEEAD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25400" rtlCol="0" anchor="ctr"/>
          <a:lstStyle/>
          <a:p>
            <a:pPr algn="ctr"/>
            <a:r>
              <a:rPr lang="en-US" sz="850" b="1">
                <a:solidFill>
                  <a:srgbClr val="D84E1D"/>
                </a:solidFill>
                <a:latin typeface="Segoe UI" panose="020B0502040204020203" pitchFamily="34" charset="0"/>
              </a:rPr>
              <a:t>[2. STRATEGIC SOURCING]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1672D2-BC75-45A4-989E-CF7766BA6DF6}"/>
              </a:ext>
            </a:extLst>
          </p:cNvPr>
          <p:cNvSpPr txBox="1"/>
          <p:nvPr/>
        </p:nvSpPr>
        <p:spPr>
          <a:xfrm>
            <a:off x="8280400" y="1676400"/>
            <a:ext cx="3467100" cy="2539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b="1">
                <a:solidFill>
                  <a:srgbClr val="2A170F"/>
                </a:solidFill>
                <a:latin typeface="Segoe UI" panose="020B0502040204020203" pitchFamily="34" charset="0"/>
              </a:rPr>
              <a:t>2. Strategic Sourcing - Modern Candidate UI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F8FF32-4055-4C54-A1C7-AF95B79B0DBC}"/>
              </a:ext>
            </a:extLst>
          </p:cNvPr>
          <p:cNvSpPr txBox="1"/>
          <p:nvPr/>
        </p:nvSpPr>
        <p:spPr>
          <a:xfrm>
            <a:off x="8280400" y="1968500"/>
            <a:ext cx="34671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850">
                <a:solidFill>
                  <a:srgbClr val="554133"/>
                </a:solidFill>
                <a:latin typeface="Segoe UI" panose="020B0502040204020203" pitchFamily="34" charset="0"/>
              </a:rPr>
              <a:t>• Digital Experience: Fast 1-Click apply with official LG Brand Identity (Life's Good).
• High Credibility: Direct links to official LG sites, showing daily real activities, company history, and team stories.</a:t>
            </a:r>
          </a:p>
        </p:txBody>
      </p:sp>
      <p:sp>
        <p:nvSpPr>
          <p:cNvPr id="21" name="Rectangle 20">
            <a:hlinkClick r:id="rId2"/>
            <a:extLst>
              <a:ext uri="{FF2B5EF4-FFF2-40B4-BE49-F238E27FC236}">
                <a16:creationId xmlns:a16="http://schemas.microsoft.com/office/drawing/2014/main" id="{9AC5D22F-A5DA-411A-B2A8-8D7CD4903720}"/>
              </a:ext>
            </a:extLst>
          </p:cNvPr>
          <p:cNvSpPr/>
          <p:nvPr/>
        </p:nvSpPr>
        <p:spPr>
          <a:xfrm>
            <a:off x="8280400" y="3149600"/>
            <a:ext cx="1841500" cy="254000"/>
          </a:xfrm>
          <a:prstGeom prst="rect">
            <a:avLst/>
          </a:prstGeom>
          <a:solidFill>
            <a:srgbClr val="D84E1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Execution Velocity</a:t>
            </a:r>
          </a:p>
        </p:txBody>
      </p:sp>
      <p:sp>
        <p:nvSpPr>
          <p:cNvPr id="22" name="Rectangle 21">
            <a:hlinkClick r:id="rId2"/>
            <a:extLst>
              <a:ext uri="{FF2B5EF4-FFF2-40B4-BE49-F238E27FC236}">
                <a16:creationId xmlns:a16="http://schemas.microsoft.com/office/drawing/2014/main" id="{3B2F2B5F-F67D-478E-95A2-A4136A4283AB}"/>
              </a:ext>
            </a:extLst>
          </p:cNvPr>
          <p:cNvSpPr/>
          <p:nvPr/>
        </p:nvSpPr>
        <p:spPr>
          <a:xfrm>
            <a:off x="317500" y="3657600"/>
            <a:ext cx="56515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0E8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4" name="Picture 23">
            <a:hlinkClick r:id="rId2"/>
            <a:extLst>
              <a:ext uri="{FF2B5EF4-FFF2-40B4-BE49-F238E27FC236}">
                <a16:creationId xmlns:a16="http://schemas.microsoft.com/office/drawing/2014/main" id="{4904F74A-99B9-4C3C-8149-FA1A057240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900" y="3911600"/>
            <a:ext cx="1778000" cy="1778000"/>
          </a:xfrm>
          <a:prstGeom prst="rect">
            <a:avLst/>
          </a:prstGeom>
        </p:spPr>
      </p:pic>
      <p:sp>
        <p:nvSpPr>
          <p:cNvPr id="25" name="Rectangle 24">
            <a:hlinkClick r:id="rId2"/>
            <a:extLst>
              <a:ext uri="{FF2B5EF4-FFF2-40B4-BE49-F238E27FC236}">
                <a16:creationId xmlns:a16="http://schemas.microsoft.com/office/drawing/2014/main" id="{2C9B0E8F-089D-43B6-97AC-8B6247C26887}"/>
              </a:ext>
            </a:extLst>
          </p:cNvPr>
          <p:cNvSpPr/>
          <p:nvPr/>
        </p:nvSpPr>
        <p:spPr>
          <a:xfrm>
            <a:off x="2374900" y="3784600"/>
            <a:ext cx="1968500" cy="254000"/>
          </a:xfrm>
          <a:prstGeom prst="rect">
            <a:avLst/>
          </a:prstGeom>
          <a:solidFill>
            <a:srgbClr val="F3E8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25400" rtlCol="0" anchor="ctr"/>
          <a:lstStyle/>
          <a:p>
            <a:pPr algn="ctr"/>
            <a:r>
              <a:rPr lang="en-US" sz="850" b="1">
                <a:solidFill>
                  <a:srgbClr val="A50034"/>
                </a:solidFill>
                <a:latin typeface="Segoe UI" panose="020B0502040204020203" pitchFamily="34" charset="0"/>
              </a:rPr>
              <a:t>[3. PROACTIVE RISK MITIGATION]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991D9D-C33D-43B1-BD70-22893AEEE6D8}"/>
              </a:ext>
            </a:extLst>
          </p:cNvPr>
          <p:cNvSpPr txBox="1"/>
          <p:nvPr/>
        </p:nvSpPr>
        <p:spPr>
          <a:xfrm>
            <a:off x="2374900" y="4064000"/>
            <a:ext cx="3467100" cy="2539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b="1">
                <a:solidFill>
                  <a:srgbClr val="2A170F"/>
                </a:solidFill>
                <a:latin typeface="Segoe UI" panose="020B0502040204020203" pitchFamily="34" charset="0"/>
              </a:rPr>
              <a:t>3. Proactive Risk Control - SVC Sourcing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EC2620-D3F8-4010-A546-46A8A480F640}"/>
              </a:ext>
            </a:extLst>
          </p:cNvPr>
          <p:cNvSpPr txBox="1"/>
          <p:nvPr/>
        </p:nvSpPr>
        <p:spPr>
          <a:xfrm>
            <a:off x="2374900" y="4356100"/>
            <a:ext cx="34671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850">
                <a:solidFill>
                  <a:srgbClr val="554133"/>
                </a:solidFill>
                <a:latin typeface="Segoe UI" panose="020B0502040204020203" pitchFamily="34" charset="0"/>
              </a:rPr>
              <a:t>• Early Risk Control: Dual-sourcing model (Direct LG Job Portal + Market Agency Integration) to prevent technician shortage.
• Visual Job Insight: Real Premier Care video clips help candidates easily visualize their daily work.</a:t>
            </a:r>
          </a:p>
        </p:txBody>
      </p:sp>
      <p:sp>
        <p:nvSpPr>
          <p:cNvPr id="28" name="Rectangle 27">
            <a:hlinkClick r:id="rId2"/>
            <a:extLst>
              <a:ext uri="{FF2B5EF4-FFF2-40B4-BE49-F238E27FC236}">
                <a16:creationId xmlns:a16="http://schemas.microsoft.com/office/drawing/2014/main" id="{DF80D9C7-56AF-4455-A7EA-61452EFFCF5E}"/>
              </a:ext>
            </a:extLst>
          </p:cNvPr>
          <p:cNvSpPr/>
          <p:nvPr/>
        </p:nvSpPr>
        <p:spPr>
          <a:xfrm>
            <a:off x="2374900" y="5537200"/>
            <a:ext cx="1841500" cy="254000"/>
          </a:xfrm>
          <a:prstGeom prst="rect">
            <a:avLst/>
          </a:prstGeom>
          <a:solidFill>
            <a:srgbClr val="A500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2 Hiring Solutions</a:t>
            </a:r>
          </a:p>
        </p:txBody>
      </p:sp>
      <p:sp>
        <p:nvSpPr>
          <p:cNvPr id="29" name="Rectangle 28">
            <a:hlinkClick r:id="rId2"/>
            <a:extLst>
              <a:ext uri="{FF2B5EF4-FFF2-40B4-BE49-F238E27FC236}">
                <a16:creationId xmlns:a16="http://schemas.microsoft.com/office/drawing/2014/main" id="{131402E3-02AE-4F8E-920C-48A9A6B0A73C}"/>
              </a:ext>
            </a:extLst>
          </p:cNvPr>
          <p:cNvSpPr/>
          <p:nvPr/>
        </p:nvSpPr>
        <p:spPr>
          <a:xfrm>
            <a:off x="6223000" y="3657600"/>
            <a:ext cx="5651500" cy="2286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0E8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hlinkClick r:id="rId2"/>
            <a:extLst>
              <a:ext uri="{FF2B5EF4-FFF2-40B4-BE49-F238E27FC236}">
                <a16:creationId xmlns:a16="http://schemas.microsoft.com/office/drawing/2014/main" id="{89A202EC-F931-4B3B-BA89-D1E59D6B40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400" y="3911600"/>
            <a:ext cx="1778000" cy="1778000"/>
          </a:xfrm>
          <a:prstGeom prst="rect">
            <a:avLst/>
          </a:prstGeom>
        </p:spPr>
      </p:pic>
      <p:sp>
        <p:nvSpPr>
          <p:cNvPr id="32" name="Rectangle 31">
            <a:hlinkClick r:id="rId2"/>
            <a:extLst>
              <a:ext uri="{FF2B5EF4-FFF2-40B4-BE49-F238E27FC236}">
                <a16:creationId xmlns:a16="http://schemas.microsoft.com/office/drawing/2014/main" id="{BEE78561-DD22-404B-8FB0-4B707EDEC5B6}"/>
              </a:ext>
            </a:extLst>
          </p:cNvPr>
          <p:cNvSpPr/>
          <p:nvPr/>
        </p:nvSpPr>
        <p:spPr>
          <a:xfrm>
            <a:off x="8280400" y="3784600"/>
            <a:ext cx="1968500" cy="254000"/>
          </a:xfrm>
          <a:prstGeom prst="rect">
            <a:avLst/>
          </a:prstGeom>
          <a:solidFill>
            <a:srgbClr val="E7FC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25400" rtlCol="0" anchor="ctr"/>
          <a:lstStyle/>
          <a:p>
            <a:pPr algn="ctr"/>
            <a:r>
              <a:rPr lang="en-US" sz="850" b="1">
                <a:solidFill>
                  <a:srgbClr val="3D8015"/>
                </a:solidFill>
                <a:latin typeface="Segoe UI" panose="020B0502040204020203" pitchFamily="34" charset="0"/>
              </a:rPr>
              <a:t>[4. CROSS-DEPT SYNERGY]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25541F-BB9D-45D3-AB38-F05038466496}"/>
              </a:ext>
            </a:extLst>
          </p:cNvPr>
          <p:cNvSpPr txBox="1"/>
          <p:nvPr/>
        </p:nvSpPr>
        <p:spPr>
          <a:xfrm>
            <a:off x="8280400" y="4064000"/>
            <a:ext cx="3467100" cy="2539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b="1">
                <a:solidFill>
                  <a:srgbClr val="2A170F"/>
                </a:solidFill>
                <a:latin typeface="Segoe UI" panose="020B0502040204020203" pitchFamily="34" charset="0"/>
              </a:rPr>
              <a:t>4. HR Automation - Cross-Dept Synergy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5549C21-56BF-42D6-AB82-F9A7850E38C9}"/>
              </a:ext>
            </a:extLst>
          </p:cNvPr>
          <p:cNvSpPr txBox="1"/>
          <p:nvPr/>
        </p:nvSpPr>
        <p:spPr>
          <a:xfrm>
            <a:off x="8280400" y="4356100"/>
            <a:ext cx="34671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850">
                <a:solidFill>
                  <a:srgbClr val="554133"/>
                </a:solidFill>
                <a:latin typeface="Segoe UI" panose="020B0502040204020203" pitchFamily="34" charset="0"/>
              </a:rPr>
              <a:t>• Auto Workflow: Real-time Excel report generation &amp; instant email alerts to HR team.
• Zero Info Gap: Completely removes communication barriers between HR team and Service team.</a:t>
            </a:r>
          </a:p>
        </p:txBody>
      </p:sp>
      <p:sp>
        <p:nvSpPr>
          <p:cNvPr id="35" name="Rectangle 34">
            <a:hlinkClick r:id="rId2"/>
            <a:extLst>
              <a:ext uri="{FF2B5EF4-FFF2-40B4-BE49-F238E27FC236}">
                <a16:creationId xmlns:a16="http://schemas.microsoft.com/office/drawing/2014/main" id="{3362C9D3-A626-45BE-AE66-73E201F17288}"/>
              </a:ext>
            </a:extLst>
          </p:cNvPr>
          <p:cNvSpPr/>
          <p:nvPr/>
        </p:nvSpPr>
        <p:spPr>
          <a:xfrm>
            <a:off x="8280400" y="5537200"/>
            <a:ext cx="1841500" cy="254000"/>
          </a:xfrm>
          <a:prstGeom prst="rect">
            <a:avLst/>
          </a:prstGeom>
          <a:solidFill>
            <a:srgbClr val="3D801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Segoe UI" panose="020B0502040204020203" pitchFamily="34" charset="0"/>
              </a:rPr>
              <a:t>Auto-Excel &amp; Email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2E12C4-4127-4259-9E1B-E01242DDEC0D}"/>
              </a:ext>
            </a:extLst>
          </p:cNvPr>
          <p:cNvSpPr/>
          <p:nvPr/>
        </p:nvSpPr>
        <p:spPr>
          <a:xfrm>
            <a:off x="0" y="6096000"/>
            <a:ext cx="12192000" cy="76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0E8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41B213-D7B5-4A9A-8905-F6E23631FACA}"/>
              </a:ext>
            </a:extLst>
          </p:cNvPr>
          <p:cNvSpPr txBox="1"/>
          <p:nvPr/>
        </p:nvSpPr>
        <p:spPr>
          <a:xfrm>
            <a:off x="317500" y="6223000"/>
            <a:ext cx="6096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475569"/>
                </a:solidFill>
                <a:latin typeface="Segoe UI" panose="020B0502040204020203" pitchFamily="34" charset="0"/>
              </a:rPr>
              <a:t>(C) LG Electronics Vietnam - Sales &amp; Marketing Procurement
AI Partner: Antigravity AI (Google DeepMind)</a:t>
            </a:r>
          </a:p>
        </p:txBody>
      </p:sp>
      <p:sp>
        <p:nvSpPr>
          <p:cNvPr id="38" name="Rectangle 37">
            <a:hlinkClick r:id="rId2"/>
            <a:extLst>
              <a:ext uri="{FF2B5EF4-FFF2-40B4-BE49-F238E27FC236}">
                <a16:creationId xmlns:a16="http://schemas.microsoft.com/office/drawing/2014/main" id="{1A9A9A4D-13CD-44E2-9A9F-0B44E3EEEC6B}"/>
              </a:ext>
            </a:extLst>
          </p:cNvPr>
          <p:cNvSpPr/>
          <p:nvPr/>
        </p:nvSpPr>
        <p:spPr>
          <a:xfrm>
            <a:off x="7112000" y="6248400"/>
            <a:ext cx="4762500" cy="355600"/>
          </a:xfrm>
          <a:prstGeom prst="rect">
            <a:avLst/>
          </a:prstGeom>
          <a:solidFill>
            <a:srgbClr val="A500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Segoe UI" panose="020B0502040204020203" pitchFamily="34" charset="0"/>
              </a:rPr>
              <a:t>Live Portal: https://emsaunguyen-ship-it.github.io/Tuyen-Dung-LG-Hanoi/?v=12</a:t>
            </a:r>
          </a:p>
        </p:txBody>
      </p:sp>
    </p:spTree>
    <p:extLst>
      <p:ext uri="{BB962C8B-B14F-4D97-AF65-F5344CB8AC3E}">
        <p14:creationId xmlns:p14="http://schemas.microsoft.com/office/powerpoint/2010/main" val="494701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665</Words>
  <Application>Microsoft Office PowerPoint</Application>
  <PresentationFormat>Custom</PresentationFormat>
  <Paragraphs>42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THUY KHANH NGUYEN/Team Leader/LGEVH NORTH GENERAL  PROCUREMENT</dc:creator>
  <cp:lastModifiedBy>THUY KHANH NGUYEN/Team Leader/LGEVH NORTH GENERAL  PROCUREMENT</cp:lastModifiedBy>
  <cp:revision>1</cp:revision>
  <dcterms:created xsi:type="dcterms:W3CDTF">2026-08-14T02:38:23Z</dcterms:created>
  <dcterms:modified xsi:type="dcterms:W3CDTF">2026-08-14T02:38:23Z</dcterms:modified>
</cp:coreProperties>
</file>