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3" d="100"/>
          <a:sy n="153" d="100"/>
        </p:scale>
        <p:origin x="16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29553-AAD5-4518-9E78-61F6F4B56D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24C24-C82A-44E8-ACE6-C2E2B0B110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B05A24-B6CA-4DD8-8FAE-789450ABD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9EBB-3912-4816-B5AB-666E3FD080CD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F123DB-1B36-491B-BD98-9533B980F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C129E1-720A-4062-8D42-D7CB25103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0F10B-E941-4DDC-AB99-3E9846EF75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740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3D43D-CF82-4350-A61A-B7C2969BA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5884D-F36C-44C7-AE36-AD44E6BFE8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E15C0F-4DA0-4D42-A5D6-E8329D59F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9EBB-3912-4816-B5AB-666E3FD080CD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DB339-2917-4F31-9EA8-3ED965CAC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303D0F-F90D-4489-9974-825AAEE9C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0F10B-E941-4DDC-AB99-3E9846EF75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905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4881A-5452-44EE-A6B5-7286B0751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633C4E-D71F-4C2C-9F02-53750B1C15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6D7DB3-1935-492F-AC07-1F8FDC155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9EBB-3912-4816-B5AB-666E3FD080CD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CECD15-955F-4369-9663-797F41DD4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6509F-6D93-41FF-8A21-3DA09FA0A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0F10B-E941-4DDC-AB99-3E9846EF75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486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C08B0-D274-44D0-982C-9BD7E2EC1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FED64-5D3A-4F4D-84B7-B89021B5A0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29087C-C759-44B4-A624-EA12B07ACF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4EB824-2791-4387-AF76-E39D7910E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9EBB-3912-4816-B5AB-666E3FD080CD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41DF92-6007-4E5E-A550-191471541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965B5B-97CE-40AE-8747-4365ECDBF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0F10B-E941-4DDC-AB99-3E9846EF75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658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338C6-64E9-45D2-AD8F-944C548B1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6B972E-A714-4396-B2CD-E02C3EC80C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3B2E7E-3379-4BDB-A8D3-56EB4B389E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1D1B37-0B8C-4860-9CE3-C0B213DA64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F86320-8E99-4129-B85A-21839D22CE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C3112D-D27C-4857-BA67-179033994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9EBB-3912-4816-B5AB-666E3FD080CD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E8D43E-0E93-42D9-8494-3B40387C5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E4F2BE-B207-41EA-9BB1-9A438DFAE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0F10B-E941-4DDC-AB99-3E9846EF75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561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6F8D0-14C0-4D23-BC2B-A21F7979D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DEB686-2B9E-42B7-8DB3-D44DD7D57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9EBB-3912-4816-B5AB-666E3FD080CD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C78D0F-EE19-4BB7-B704-D3FFCBAFF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688398-BFED-4B7A-B9F7-384CC1B58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0F10B-E941-4DDC-AB99-3E9846EF75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418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7C89B0-E348-422C-9391-866BDF0B7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9EBB-3912-4816-B5AB-666E3FD080CD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BD8833-FA3C-41C6-A8B9-3E2A5F0F8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4B917-905C-47CB-AE85-BE6F36D46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0F10B-E941-4DDC-AB99-3E9846EF75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573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43016-CCD6-44CB-B106-BF98C51AF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60AC8-EA47-4600-AD13-AB5525AA4B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F17C6D-0F92-4FB5-92E8-C9E5F983A9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D60BC9-861F-42B0-8AD7-9AA03D761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9EBB-3912-4816-B5AB-666E3FD080CD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A53B8F-DB42-4129-A6A9-554D82C52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312CFB-0C71-4244-8691-D716F4DC1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0F10B-E941-4DDC-AB99-3E9846EF75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539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C6142-63AC-46B4-8485-52290A162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71DEC7-7F55-4A73-8B4A-A253CC8E4E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59F642-F882-4868-8AD6-AE14E8F7DB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EB3B54-7E54-4356-A0BC-4D018CFEC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9EBB-3912-4816-B5AB-666E3FD080CD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DE84E2-6F29-489F-B8C1-37B3E4112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8EB935-4B02-4867-97A5-753D29D07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0F10B-E941-4DDC-AB99-3E9846EF75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291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BFA01-0FB8-4311-8A08-856F61735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3C67CB-FDAC-4406-8EB6-CD1BD6696F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DD0E7-59A8-473D-94FA-8B4E222FC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9EBB-3912-4816-B5AB-666E3FD080CD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99EE0-5DB1-4616-87F3-D2F4CBE59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5E2875-4209-4929-AA4C-BA185DB92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0F10B-E941-4DDC-AB99-3E9846EF75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293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EB3A30-EFCE-4004-AB36-A35F9610FF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55A633-C333-4BF6-A6C8-6C134243DF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9BA06-2EB2-456A-AB03-A68896AB3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9EBB-3912-4816-B5AB-666E3FD080CD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09847F-DD52-4C52-8B51-E9FFC5E2C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957247-B6EB-4B5E-9F3F-66E6F0150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0F10B-E941-4DDC-AB99-3E9846EF75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088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A20237-7E88-4929-A585-0857146DF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F20AA3-51C0-4630-B5DD-36C460E3AC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8D56FA-85F6-4CD7-BE7E-0C2A53392D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BD9EBB-3912-4816-B5AB-666E3FD080CD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06F5C-6886-4942-9519-C2E086BFEB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8D9B7-CF86-4561-B6E1-6213E667A3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40F10B-E941-4DDC-AB99-3E9846EF75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585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emsaunguyen-ship-it.github.io/Tuyen-Dung-LG-Hanoi/?v=12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emsaunguyen-ship-it.github.io/Tuyen-Dung-LG-Hanoi/?v=12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4BA1AA1-1CBE-4FB1-90F9-C75BA1033712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A500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368843-26FB-4B70-AE4C-8954FC0D193F}"/>
              </a:ext>
            </a:extLst>
          </p:cNvPr>
          <p:cNvSpPr/>
          <p:nvPr/>
        </p:nvSpPr>
        <p:spPr>
          <a:xfrm>
            <a:off x="0" y="50800"/>
            <a:ext cx="12192000" cy="4826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hlinkClick r:id="rId2"/>
            <a:extLst>
              <a:ext uri="{FF2B5EF4-FFF2-40B4-BE49-F238E27FC236}">
                <a16:creationId xmlns:a16="http://schemas.microsoft.com/office/drawing/2014/main" id="{9E010BD2-0EE1-4EA5-AF96-1B3AD68B78C7}"/>
              </a:ext>
            </a:extLst>
          </p:cNvPr>
          <p:cNvSpPr/>
          <p:nvPr/>
        </p:nvSpPr>
        <p:spPr>
          <a:xfrm>
            <a:off x="10477500" y="127000"/>
            <a:ext cx="1397000" cy="330200"/>
          </a:xfrm>
          <a:prstGeom prst="rect">
            <a:avLst/>
          </a:prstGeom>
          <a:solidFill>
            <a:srgbClr val="A500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Segoe UI" panose="020B0502040204020203" pitchFamily="34" charset="0"/>
              </a:rPr>
              <a:t>Life's Good.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301AD7-FD36-4342-924A-6100D0E65211}"/>
              </a:ext>
            </a:extLst>
          </p:cNvPr>
          <p:cNvSpPr/>
          <p:nvPr/>
        </p:nvSpPr>
        <p:spPr>
          <a:xfrm>
            <a:off x="317500" y="584200"/>
            <a:ext cx="11557000" cy="635000"/>
          </a:xfrm>
          <a:prstGeom prst="rect">
            <a:avLst/>
          </a:prstGeom>
          <a:solidFill>
            <a:srgbClr val="F1F5F9"/>
          </a:solidFill>
          <a:ln w="12700">
            <a:solidFill>
              <a:srgbClr val="F0E8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16ED7B-B709-4EC1-8458-F01FA131F5DD}"/>
              </a:ext>
            </a:extLst>
          </p:cNvPr>
          <p:cNvSpPr txBox="1"/>
          <p:nvPr/>
        </p:nvSpPr>
        <p:spPr>
          <a:xfrm>
            <a:off x="444500" y="622300"/>
            <a:ext cx="11303000" cy="30008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50" b="1">
                <a:solidFill>
                  <a:srgbClr val="2A170F"/>
                </a:solidFill>
                <a:latin typeface="Segoe UI" panose="020B0502040204020203" pitchFamily="34" charset="0"/>
              </a:rPr>
              <a:t>Chia Sẻ Ứng Dụng AI &amp; Bài Tập Thực Hành: Portal Tuyển Dụng LG Hanoi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F28C20-97D4-4A37-81AE-336A73C589DE}"/>
              </a:ext>
            </a:extLst>
          </p:cNvPr>
          <p:cNvSpPr txBox="1"/>
          <p:nvPr/>
        </p:nvSpPr>
        <p:spPr>
          <a:xfrm>
            <a:off x="444500" y="914400"/>
            <a:ext cx="11303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>
                <a:solidFill>
                  <a:srgbClr val="475569"/>
                </a:solidFill>
                <a:latin typeface="Segoe UI" panose="020B0502040204020203" pitchFamily="34" charset="0"/>
              </a:rPr>
              <a:t>Chủ động bứt phá ranh giới R&amp;R</a:t>
            </a:r>
            <a:endParaRPr lang="en-US" sz="900">
              <a:solidFill>
                <a:srgbClr val="475569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tangle 7">
            <a:hlinkClick r:id="rId2"/>
            <a:extLst>
              <a:ext uri="{FF2B5EF4-FFF2-40B4-BE49-F238E27FC236}">
                <a16:creationId xmlns:a16="http://schemas.microsoft.com/office/drawing/2014/main" id="{2D91CF40-B620-4942-A5B4-867B57CBDC8F}"/>
              </a:ext>
            </a:extLst>
          </p:cNvPr>
          <p:cNvSpPr/>
          <p:nvPr/>
        </p:nvSpPr>
        <p:spPr>
          <a:xfrm>
            <a:off x="317500" y="1270000"/>
            <a:ext cx="565150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F0E8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hlinkClick r:id="rId2"/>
            <a:extLst>
              <a:ext uri="{FF2B5EF4-FFF2-40B4-BE49-F238E27FC236}">
                <a16:creationId xmlns:a16="http://schemas.microsoft.com/office/drawing/2014/main" id="{BE29F051-3C0D-4DC8-A581-7E789000F8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00" y="1524000"/>
            <a:ext cx="1778000" cy="1778000"/>
          </a:xfrm>
          <a:prstGeom prst="rect">
            <a:avLst/>
          </a:prstGeom>
        </p:spPr>
      </p:pic>
      <p:sp>
        <p:nvSpPr>
          <p:cNvPr id="11" name="Rectangle 10">
            <a:hlinkClick r:id="rId2"/>
            <a:extLst>
              <a:ext uri="{FF2B5EF4-FFF2-40B4-BE49-F238E27FC236}">
                <a16:creationId xmlns:a16="http://schemas.microsoft.com/office/drawing/2014/main" id="{5C6D41F9-311F-4EAE-A061-877E7ED858DF}"/>
              </a:ext>
            </a:extLst>
          </p:cNvPr>
          <p:cNvSpPr/>
          <p:nvPr/>
        </p:nvSpPr>
        <p:spPr>
          <a:xfrm>
            <a:off x="2374900" y="1397000"/>
            <a:ext cx="1968500" cy="254000"/>
          </a:xfrm>
          <a:prstGeom prst="rect">
            <a:avLst/>
          </a:prstGeom>
          <a:solidFill>
            <a:srgbClr val="FFE8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25400" rtlCol="0" anchor="ctr"/>
          <a:lstStyle/>
          <a:p>
            <a:pPr algn="ctr"/>
            <a:r>
              <a:rPr lang="pt-BR" sz="850" b="1">
                <a:solidFill>
                  <a:srgbClr val="ED3A7C"/>
                </a:solidFill>
                <a:latin typeface="Segoe UI" panose="020B0502040204020203" pitchFamily="34" charset="0"/>
              </a:rPr>
              <a:t>[1. BỨT PHÁ RANH GIỚI R&amp;R]</a:t>
            </a:r>
            <a:endParaRPr lang="en-US" sz="850" b="1">
              <a:solidFill>
                <a:srgbClr val="ED3A7C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557851-6609-4B71-A4C9-AD0FC02C73C0}"/>
              </a:ext>
            </a:extLst>
          </p:cNvPr>
          <p:cNvSpPr txBox="1"/>
          <p:nvPr/>
        </p:nvSpPr>
        <p:spPr>
          <a:xfrm>
            <a:off x="2374900" y="1676400"/>
            <a:ext cx="3467100" cy="25391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it-IT" sz="1050" b="1">
                <a:solidFill>
                  <a:srgbClr val="2A170F"/>
                </a:solidFill>
                <a:latin typeface="Segoe UI" panose="020B0502040204020203" pitchFamily="34" charset="0"/>
              </a:rPr>
              <a:t>1. Bứt Phá Rào Cản R&amp;R - AI Non-Tech</a:t>
            </a:r>
            <a:endParaRPr lang="en-US" sz="1050" b="1">
              <a:solidFill>
                <a:srgbClr val="2A170F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6368AC-5CCF-4FBB-9CC2-40DB9392AE4F}"/>
              </a:ext>
            </a:extLst>
          </p:cNvPr>
          <p:cNvSpPr txBox="1"/>
          <p:nvPr/>
        </p:nvSpPr>
        <p:spPr>
          <a:xfrm>
            <a:off x="2374900" y="1968500"/>
            <a:ext cx="3467100" cy="74635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vi-VN" sz="850">
                <a:solidFill>
                  <a:srgbClr val="554133"/>
                </a:solidFill>
                <a:latin typeface="Segoe UI" panose="020B0502040204020203" pitchFamily="34" charset="0"/>
              </a:rPr>
              <a:t>• Vượt ranh giới R&amp;R: Dù là người Mua sắm (Sales &amp; Marketing) không có kiến thức IT &amp; HR, vẫn tự lập được Cổng tuyển dụng thực tế.
• Tự động hóa nhờ AI: AI hỗ trợ thu thập dữ liệu (data) và tự động kiểm duyệt trang web hoàn chỉnh.</a:t>
            </a:r>
            <a:endParaRPr lang="en-US" sz="850">
              <a:solidFill>
                <a:srgbClr val="554133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Rectangle 13">
            <a:hlinkClick r:id="rId2"/>
            <a:extLst>
              <a:ext uri="{FF2B5EF4-FFF2-40B4-BE49-F238E27FC236}">
                <a16:creationId xmlns:a16="http://schemas.microsoft.com/office/drawing/2014/main" id="{BB6B785B-5D58-4337-B2EB-B351C3BE1252}"/>
              </a:ext>
            </a:extLst>
          </p:cNvPr>
          <p:cNvSpPr/>
          <p:nvPr/>
        </p:nvSpPr>
        <p:spPr>
          <a:xfrm>
            <a:off x="2374900" y="3149600"/>
            <a:ext cx="1841500" cy="254000"/>
          </a:xfrm>
          <a:prstGeom prst="rect">
            <a:avLst/>
          </a:prstGeom>
          <a:solidFill>
            <a:srgbClr val="ED3A7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tlCol="0" anchor="ctr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Segoe UI" panose="020B0502040204020203" pitchFamily="34" charset="0"/>
              </a:rPr>
              <a:t>Live Website Product</a:t>
            </a:r>
          </a:p>
        </p:txBody>
      </p:sp>
      <p:sp>
        <p:nvSpPr>
          <p:cNvPr id="15" name="Rectangle 14">
            <a:hlinkClick r:id="rId2"/>
            <a:extLst>
              <a:ext uri="{FF2B5EF4-FFF2-40B4-BE49-F238E27FC236}">
                <a16:creationId xmlns:a16="http://schemas.microsoft.com/office/drawing/2014/main" id="{AE085656-21D8-401A-9437-12AFD861EE58}"/>
              </a:ext>
            </a:extLst>
          </p:cNvPr>
          <p:cNvSpPr/>
          <p:nvPr/>
        </p:nvSpPr>
        <p:spPr>
          <a:xfrm>
            <a:off x="6223000" y="1270000"/>
            <a:ext cx="565150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F0E8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hlinkClick r:id="rId2"/>
            <a:extLst>
              <a:ext uri="{FF2B5EF4-FFF2-40B4-BE49-F238E27FC236}">
                <a16:creationId xmlns:a16="http://schemas.microsoft.com/office/drawing/2014/main" id="{0C99CB37-0842-4565-A6F2-7410ABC6D0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5400" y="1524000"/>
            <a:ext cx="1778000" cy="1778000"/>
          </a:xfrm>
          <a:prstGeom prst="rect">
            <a:avLst/>
          </a:prstGeom>
        </p:spPr>
      </p:pic>
      <p:sp>
        <p:nvSpPr>
          <p:cNvPr id="18" name="Rectangle 17">
            <a:hlinkClick r:id="rId2"/>
            <a:extLst>
              <a:ext uri="{FF2B5EF4-FFF2-40B4-BE49-F238E27FC236}">
                <a16:creationId xmlns:a16="http://schemas.microsoft.com/office/drawing/2014/main" id="{47E9122E-F5AD-4EF5-A5EA-1EA3D0FF523D}"/>
              </a:ext>
            </a:extLst>
          </p:cNvPr>
          <p:cNvSpPr/>
          <p:nvPr/>
        </p:nvSpPr>
        <p:spPr>
          <a:xfrm>
            <a:off x="8280400" y="1397000"/>
            <a:ext cx="1968500" cy="254000"/>
          </a:xfrm>
          <a:prstGeom prst="rect">
            <a:avLst/>
          </a:prstGeom>
          <a:solidFill>
            <a:srgbClr val="FEEAD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25400" rtlCol="0" anchor="ctr"/>
          <a:lstStyle/>
          <a:p>
            <a:pPr algn="ctr"/>
            <a:r>
              <a:rPr lang="en-US" sz="850" b="1">
                <a:solidFill>
                  <a:srgbClr val="D84E1D"/>
                </a:solidFill>
                <a:latin typeface="Segoe UI" panose="020B0502040204020203" pitchFamily="34" charset="0"/>
              </a:rPr>
              <a:t>[2. ĐỔI MỚI KÊNH THU HÚT]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A617C3-0D24-4D5E-86B2-70B1F0E63CCC}"/>
              </a:ext>
            </a:extLst>
          </p:cNvPr>
          <p:cNvSpPr txBox="1"/>
          <p:nvPr/>
        </p:nvSpPr>
        <p:spPr>
          <a:xfrm>
            <a:off x="8280400" y="1676400"/>
            <a:ext cx="3467100" cy="25391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50" b="1">
                <a:solidFill>
                  <a:srgbClr val="2A170F"/>
                </a:solidFill>
                <a:latin typeface="Segoe UI" panose="020B0502040204020203" pitchFamily="34" charset="0"/>
              </a:rPr>
              <a:t>2. Đổi Mới Kênh Thu Hút Nhân Tài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964A3D-39BC-4D9D-AD50-6FED40644776}"/>
              </a:ext>
            </a:extLst>
          </p:cNvPr>
          <p:cNvSpPr txBox="1"/>
          <p:nvPr/>
        </p:nvSpPr>
        <p:spPr>
          <a:xfrm>
            <a:off x="8280400" y="1968500"/>
            <a:ext cx="3467100" cy="74635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vi-VN" sz="850">
                <a:solidFill>
                  <a:srgbClr val="554133"/>
                </a:solidFill>
                <a:latin typeface="Segoe UI" panose="020B0502040204020203" pitchFamily="34" charset="0"/>
              </a:rPr>
              <a:t>• Trải nghiệm số hóa: Nộp CV 1-Click Apply chuẩn nhận diện LG (Life's Good), nâng cao trải nghiệm ứng viên.
• Độ tin cậy cao: Dẫn link trực tiếp về trang web chính thức, minh bạch lịch sử công ty &amp; cập nhật hoạt động người thật việc thật hàng ngày.</a:t>
            </a:r>
            <a:endParaRPr lang="en-US" sz="850">
              <a:solidFill>
                <a:srgbClr val="554133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Rectangle 20">
            <a:hlinkClick r:id="rId2"/>
            <a:extLst>
              <a:ext uri="{FF2B5EF4-FFF2-40B4-BE49-F238E27FC236}">
                <a16:creationId xmlns:a16="http://schemas.microsoft.com/office/drawing/2014/main" id="{423936D5-C000-4A90-BD3A-BC81AC05FE9C}"/>
              </a:ext>
            </a:extLst>
          </p:cNvPr>
          <p:cNvSpPr/>
          <p:nvPr/>
        </p:nvSpPr>
        <p:spPr>
          <a:xfrm>
            <a:off x="8280400" y="3149600"/>
            <a:ext cx="1841500" cy="254000"/>
          </a:xfrm>
          <a:prstGeom prst="rect">
            <a:avLst/>
          </a:prstGeom>
          <a:solidFill>
            <a:srgbClr val="D84E1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tlCol="0" anchor="ctr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Segoe UI" panose="020B0502040204020203" pitchFamily="34" charset="0"/>
              </a:rPr>
              <a:t>Execution Velocity</a:t>
            </a:r>
          </a:p>
        </p:txBody>
      </p:sp>
      <p:sp>
        <p:nvSpPr>
          <p:cNvPr id="22" name="Rectangle 21">
            <a:hlinkClick r:id="rId2"/>
            <a:extLst>
              <a:ext uri="{FF2B5EF4-FFF2-40B4-BE49-F238E27FC236}">
                <a16:creationId xmlns:a16="http://schemas.microsoft.com/office/drawing/2014/main" id="{2521B033-5686-42F5-BAE0-AC85DAB5BC3B}"/>
              </a:ext>
            </a:extLst>
          </p:cNvPr>
          <p:cNvSpPr/>
          <p:nvPr/>
        </p:nvSpPr>
        <p:spPr>
          <a:xfrm>
            <a:off x="317500" y="3657600"/>
            <a:ext cx="565150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F0E8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>
            <a:hlinkClick r:id="rId2"/>
            <a:extLst>
              <a:ext uri="{FF2B5EF4-FFF2-40B4-BE49-F238E27FC236}">
                <a16:creationId xmlns:a16="http://schemas.microsoft.com/office/drawing/2014/main" id="{5A2B4F8A-119F-49B4-8F34-5FD82FC724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00" y="3911600"/>
            <a:ext cx="1778000" cy="1778000"/>
          </a:xfrm>
          <a:prstGeom prst="rect">
            <a:avLst/>
          </a:prstGeom>
        </p:spPr>
      </p:pic>
      <p:sp>
        <p:nvSpPr>
          <p:cNvPr id="25" name="Rectangle 24">
            <a:hlinkClick r:id="rId2"/>
            <a:extLst>
              <a:ext uri="{FF2B5EF4-FFF2-40B4-BE49-F238E27FC236}">
                <a16:creationId xmlns:a16="http://schemas.microsoft.com/office/drawing/2014/main" id="{7892CF28-0122-4D4D-98AC-F19D33725C29}"/>
              </a:ext>
            </a:extLst>
          </p:cNvPr>
          <p:cNvSpPr/>
          <p:nvPr/>
        </p:nvSpPr>
        <p:spPr>
          <a:xfrm>
            <a:off x="2374900" y="3784600"/>
            <a:ext cx="1968500" cy="254000"/>
          </a:xfrm>
          <a:prstGeom prst="rect">
            <a:avLst/>
          </a:prstGeom>
          <a:solidFill>
            <a:srgbClr val="F3E8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25400" rtlCol="0" anchor="ctr"/>
          <a:lstStyle/>
          <a:p>
            <a:pPr algn="ctr"/>
            <a:r>
              <a:rPr lang="en-US" sz="850" b="1">
                <a:solidFill>
                  <a:srgbClr val="A50034"/>
                </a:solidFill>
                <a:latin typeface="Segoe UI" panose="020B0502040204020203" pitchFamily="34" charset="0"/>
              </a:rPr>
              <a:t>[3. XỬ LÝ NGHỄN TỪ SỚM]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26B200-C0A0-46F8-91D0-9F788F893213}"/>
              </a:ext>
            </a:extLst>
          </p:cNvPr>
          <p:cNvSpPr txBox="1"/>
          <p:nvPr/>
        </p:nvSpPr>
        <p:spPr>
          <a:xfrm>
            <a:off x="2374900" y="4064000"/>
            <a:ext cx="3467100" cy="25391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50" b="1">
                <a:solidFill>
                  <a:srgbClr val="2A170F"/>
                </a:solidFill>
                <a:latin typeface="Segoe UI" panose="020B0502040204020203" pitchFamily="34" charset="0"/>
              </a:rPr>
              <a:t>3. Xử Lý Rủi Ro Vận Hành Từ Sớm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0DB49DD-CE08-4F76-B71D-8CC2FA8B8489}"/>
              </a:ext>
            </a:extLst>
          </p:cNvPr>
          <p:cNvSpPr txBox="1"/>
          <p:nvPr/>
        </p:nvSpPr>
        <p:spPr>
          <a:xfrm>
            <a:off x="2374900" y="4356100"/>
            <a:ext cx="34671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vi-VN" sz="850">
                <a:solidFill>
                  <a:srgbClr val="554133"/>
                </a:solidFill>
                <a:latin typeface="Segoe UI" panose="020B0502040204020203" pitchFamily="34" charset="0"/>
              </a:rPr>
              <a:t>• Phòng ngừa rủi ro KTV Service: Kết hợp linh hoạt 2 kênh (Cổng đăng tuyển trực tiếp LG + Tích hợp Agency uy tín trên thị trường).
• Trực quan công việc: Tích hợp clip Premier Care thực tế giúp ứng viên dễ dàng hình dung vị trí ứng tuyển.</a:t>
            </a:r>
            <a:endParaRPr lang="en-US" sz="850">
              <a:solidFill>
                <a:srgbClr val="554133"/>
              </a:solidFill>
              <a:latin typeface="Segoe UI" panose="020B0502040204020203" pitchFamily="34" charset="0"/>
            </a:endParaRPr>
          </a:p>
        </p:txBody>
      </p:sp>
      <p:sp>
        <p:nvSpPr>
          <p:cNvPr id="28" name="Rectangle 27">
            <a:hlinkClick r:id="rId2"/>
            <a:extLst>
              <a:ext uri="{FF2B5EF4-FFF2-40B4-BE49-F238E27FC236}">
                <a16:creationId xmlns:a16="http://schemas.microsoft.com/office/drawing/2014/main" id="{9B5CF1D3-7958-423E-9774-708EA8FFD93C}"/>
              </a:ext>
            </a:extLst>
          </p:cNvPr>
          <p:cNvSpPr/>
          <p:nvPr/>
        </p:nvSpPr>
        <p:spPr>
          <a:xfrm>
            <a:off x="2374900" y="5537200"/>
            <a:ext cx="1841500" cy="254000"/>
          </a:xfrm>
          <a:prstGeom prst="rect">
            <a:avLst/>
          </a:prstGeom>
          <a:solidFill>
            <a:srgbClr val="A500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tlCol="0" anchor="ctr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Segoe UI" panose="020B0502040204020203" pitchFamily="34" charset="0"/>
              </a:rPr>
              <a:t>2 Hiring Solutions</a:t>
            </a:r>
          </a:p>
        </p:txBody>
      </p:sp>
      <p:sp>
        <p:nvSpPr>
          <p:cNvPr id="29" name="Rectangle 28">
            <a:hlinkClick r:id="rId2"/>
            <a:extLst>
              <a:ext uri="{FF2B5EF4-FFF2-40B4-BE49-F238E27FC236}">
                <a16:creationId xmlns:a16="http://schemas.microsoft.com/office/drawing/2014/main" id="{19C244AE-DEF6-4469-939C-E80EB6E1E0A0}"/>
              </a:ext>
            </a:extLst>
          </p:cNvPr>
          <p:cNvSpPr/>
          <p:nvPr/>
        </p:nvSpPr>
        <p:spPr>
          <a:xfrm>
            <a:off x="6223000" y="3657600"/>
            <a:ext cx="565150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F0E8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>
            <a:hlinkClick r:id="rId2"/>
            <a:extLst>
              <a:ext uri="{FF2B5EF4-FFF2-40B4-BE49-F238E27FC236}">
                <a16:creationId xmlns:a16="http://schemas.microsoft.com/office/drawing/2014/main" id="{7C4833A4-50BF-4F06-8151-0B280E59D0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5400" y="3911600"/>
            <a:ext cx="1778000" cy="1778000"/>
          </a:xfrm>
          <a:prstGeom prst="rect">
            <a:avLst/>
          </a:prstGeom>
        </p:spPr>
      </p:pic>
      <p:sp>
        <p:nvSpPr>
          <p:cNvPr id="32" name="Rectangle 31">
            <a:hlinkClick r:id="rId2"/>
            <a:extLst>
              <a:ext uri="{FF2B5EF4-FFF2-40B4-BE49-F238E27FC236}">
                <a16:creationId xmlns:a16="http://schemas.microsoft.com/office/drawing/2014/main" id="{7911659D-F63D-4055-A99E-1434B38B943B}"/>
              </a:ext>
            </a:extLst>
          </p:cNvPr>
          <p:cNvSpPr/>
          <p:nvPr/>
        </p:nvSpPr>
        <p:spPr>
          <a:xfrm>
            <a:off x="8280400" y="3784600"/>
            <a:ext cx="1968500" cy="254000"/>
          </a:xfrm>
          <a:prstGeom prst="rect">
            <a:avLst/>
          </a:prstGeom>
          <a:solidFill>
            <a:srgbClr val="E7FC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25400" rtlCol="0" anchor="ctr"/>
          <a:lstStyle/>
          <a:p>
            <a:pPr algn="ctr"/>
            <a:r>
              <a:rPr lang="en-US" sz="850" b="1">
                <a:solidFill>
                  <a:srgbClr val="3D8015"/>
                </a:solidFill>
                <a:latin typeface="Segoe UI" panose="020B0502040204020203" pitchFamily="34" charset="0"/>
              </a:rPr>
              <a:t>[4. PHỐI HỢP NỘI BỘ]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22D0896-9043-42ED-883F-C2B1B35471B3}"/>
              </a:ext>
            </a:extLst>
          </p:cNvPr>
          <p:cNvSpPr txBox="1"/>
          <p:nvPr/>
        </p:nvSpPr>
        <p:spPr>
          <a:xfrm>
            <a:off x="8280400" y="4064000"/>
            <a:ext cx="3467100" cy="25391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50" b="1">
                <a:solidFill>
                  <a:srgbClr val="2A170F"/>
                </a:solidFill>
                <a:latin typeface="Segoe UI" panose="020B0502040204020203" pitchFamily="34" charset="0"/>
              </a:rPr>
              <a:t>4. Tự Động Hóa &amp; Phối Hợp Liên Phòng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FCF5A01-1316-4A21-B7E2-41514D84091C}"/>
              </a:ext>
            </a:extLst>
          </p:cNvPr>
          <p:cNvSpPr txBox="1"/>
          <p:nvPr/>
        </p:nvSpPr>
        <p:spPr>
          <a:xfrm>
            <a:off x="8280400" y="4356100"/>
            <a:ext cx="34671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850">
                <a:solidFill>
                  <a:srgbClr val="554133"/>
                </a:solidFill>
                <a:latin typeface="Segoe UI" panose="020B0502040204020203" pitchFamily="34" charset="0"/>
              </a:rPr>
              <a:t>• Tự động hóa luồng CV: Tổng hợp báo cáo Excel thời gian thực &amp; phát thông báo email tức thì cho HR team.
• Xóa khoảng trống thông tin: Kết nối dữ liệu liền mạch giữa HR team và Khối Dịch vụ.</a:t>
            </a:r>
          </a:p>
        </p:txBody>
      </p:sp>
      <p:sp>
        <p:nvSpPr>
          <p:cNvPr id="35" name="Rectangle 34">
            <a:hlinkClick r:id="rId2"/>
            <a:extLst>
              <a:ext uri="{FF2B5EF4-FFF2-40B4-BE49-F238E27FC236}">
                <a16:creationId xmlns:a16="http://schemas.microsoft.com/office/drawing/2014/main" id="{E28613F6-FB3E-4CF4-B3AA-9FB86ED7632B}"/>
              </a:ext>
            </a:extLst>
          </p:cNvPr>
          <p:cNvSpPr/>
          <p:nvPr/>
        </p:nvSpPr>
        <p:spPr>
          <a:xfrm>
            <a:off x="8280400" y="5537200"/>
            <a:ext cx="1841500" cy="254000"/>
          </a:xfrm>
          <a:prstGeom prst="rect">
            <a:avLst/>
          </a:prstGeom>
          <a:solidFill>
            <a:srgbClr val="3D801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tlCol="0" anchor="ctr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Segoe UI" panose="020B0502040204020203" pitchFamily="34" charset="0"/>
              </a:rPr>
              <a:t>Auto-Excel &amp; Email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71D6F56-CC5A-46BC-969C-1424B2A714ED}"/>
              </a:ext>
            </a:extLst>
          </p:cNvPr>
          <p:cNvSpPr/>
          <p:nvPr/>
        </p:nvSpPr>
        <p:spPr>
          <a:xfrm>
            <a:off x="0" y="6096000"/>
            <a:ext cx="12192000" cy="76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0E8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3B9E851-3B27-496C-BF08-C5F4603DA792}"/>
              </a:ext>
            </a:extLst>
          </p:cNvPr>
          <p:cNvSpPr txBox="1"/>
          <p:nvPr/>
        </p:nvSpPr>
        <p:spPr>
          <a:xfrm>
            <a:off x="317500" y="6223000"/>
            <a:ext cx="609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475569"/>
                </a:solidFill>
                <a:latin typeface="Segoe UI" panose="020B0502040204020203" pitchFamily="34" charset="0"/>
              </a:rPr>
              <a:t>(C) LG Electronics Vietnam - Sales &amp; Marketing Procurement
AI Partner: Antigravity AI (Google DeepMind)</a:t>
            </a:r>
          </a:p>
        </p:txBody>
      </p:sp>
      <p:sp>
        <p:nvSpPr>
          <p:cNvPr id="38" name="Rectangle 37">
            <a:hlinkClick r:id="rId2"/>
            <a:extLst>
              <a:ext uri="{FF2B5EF4-FFF2-40B4-BE49-F238E27FC236}">
                <a16:creationId xmlns:a16="http://schemas.microsoft.com/office/drawing/2014/main" id="{04205895-2812-4142-AFC4-0DF0AAFE647C}"/>
              </a:ext>
            </a:extLst>
          </p:cNvPr>
          <p:cNvSpPr/>
          <p:nvPr/>
        </p:nvSpPr>
        <p:spPr>
          <a:xfrm>
            <a:off x="7112000" y="6248400"/>
            <a:ext cx="4762500" cy="355600"/>
          </a:xfrm>
          <a:prstGeom prst="rect">
            <a:avLst/>
          </a:prstGeom>
          <a:solidFill>
            <a:srgbClr val="A500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Segoe UI" panose="020B0502040204020203" pitchFamily="34" charset="0"/>
              </a:rPr>
              <a:t>Live Portal: https://emsaunguyen-ship-it.github.io/Tuyen-Dung-LG-Hanoi/?v=12</a:t>
            </a:r>
          </a:p>
        </p:txBody>
      </p:sp>
    </p:spTree>
    <p:extLst>
      <p:ext uri="{BB962C8B-B14F-4D97-AF65-F5344CB8AC3E}">
        <p14:creationId xmlns:p14="http://schemas.microsoft.com/office/powerpoint/2010/main" val="1652940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D51B86-AA3E-428E-9D2E-C08452473661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A500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AB935B-3FBC-4B12-8E91-930CD1B0A71C}"/>
              </a:ext>
            </a:extLst>
          </p:cNvPr>
          <p:cNvSpPr/>
          <p:nvPr/>
        </p:nvSpPr>
        <p:spPr>
          <a:xfrm>
            <a:off x="0" y="50800"/>
            <a:ext cx="12192000" cy="4826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hlinkClick r:id="rId2"/>
            <a:extLst>
              <a:ext uri="{FF2B5EF4-FFF2-40B4-BE49-F238E27FC236}">
                <a16:creationId xmlns:a16="http://schemas.microsoft.com/office/drawing/2014/main" id="{10A0E53A-94F4-4968-9BEE-595397303474}"/>
              </a:ext>
            </a:extLst>
          </p:cNvPr>
          <p:cNvSpPr/>
          <p:nvPr/>
        </p:nvSpPr>
        <p:spPr>
          <a:xfrm>
            <a:off x="10477500" y="127000"/>
            <a:ext cx="1397000" cy="330200"/>
          </a:xfrm>
          <a:prstGeom prst="rect">
            <a:avLst/>
          </a:prstGeom>
          <a:solidFill>
            <a:srgbClr val="A500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Segoe UI" panose="020B0502040204020203" pitchFamily="34" charset="0"/>
              </a:rPr>
              <a:t>Life's Good.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C35BB6-A72B-419F-8C05-BCB98B550D6D}"/>
              </a:ext>
            </a:extLst>
          </p:cNvPr>
          <p:cNvSpPr/>
          <p:nvPr/>
        </p:nvSpPr>
        <p:spPr>
          <a:xfrm>
            <a:off x="317500" y="584200"/>
            <a:ext cx="11557000" cy="635000"/>
          </a:xfrm>
          <a:prstGeom prst="rect">
            <a:avLst/>
          </a:prstGeom>
          <a:solidFill>
            <a:srgbClr val="F1F5F9"/>
          </a:solidFill>
          <a:ln w="12700">
            <a:solidFill>
              <a:srgbClr val="F0E8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6DFD36-A5BB-49A8-B2C2-D0E4CB30055F}"/>
              </a:ext>
            </a:extLst>
          </p:cNvPr>
          <p:cNvSpPr txBox="1"/>
          <p:nvPr/>
        </p:nvSpPr>
        <p:spPr>
          <a:xfrm>
            <a:off x="444500" y="622300"/>
            <a:ext cx="11303000" cy="30008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50" b="1">
                <a:solidFill>
                  <a:srgbClr val="2A170F"/>
                </a:solidFill>
                <a:latin typeface="Segoe UI" panose="020B0502040204020203" pitchFamily="34" charset="0"/>
              </a:rPr>
              <a:t>AI Application Sharing &amp; Case Study: LG Hanoi Recruitment Portal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DA4498-2B3F-408C-B94A-3B8542FEED61}"/>
              </a:ext>
            </a:extLst>
          </p:cNvPr>
          <p:cNvSpPr txBox="1"/>
          <p:nvPr/>
        </p:nvSpPr>
        <p:spPr>
          <a:xfrm>
            <a:off x="444500" y="914400"/>
            <a:ext cx="11303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475569"/>
                </a:solidFill>
                <a:latin typeface="Segoe UI" panose="020B0502040204020203" pitchFamily="34" charset="0"/>
              </a:rPr>
              <a:t>Proactive Scope Expansion</a:t>
            </a:r>
          </a:p>
        </p:txBody>
      </p:sp>
      <p:sp>
        <p:nvSpPr>
          <p:cNvPr id="8" name="Rectangle 7">
            <a:hlinkClick r:id="rId2"/>
            <a:extLst>
              <a:ext uri="{FF2B5EF4-FFF2-40B4-BE49-F238E27FC236}">
                <a16:creationId xmlns:a16="http://schemas.microsoft.com/office/drawing/2014/main" id="{9144B756-9FEE-4583-9096-EB47E6B0E074}"/>
              </a:ext>
            </a:extLst>
          </p:cNvPr>
          <p:cNvSpPr/>
          <p:nvPr/>
        </p:nvSpPr>
        <p:spPr>
          <a:xfrm>
            <a:off x="317500" y="1270000"/>
            <a:ext cx="565150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F0E8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hlinkClick r:id="rId2"/>
            <a:extLst>
              <a:ext uri="{FF2B5EF4-FFF2-40B4-BE49-F238E27FC236}">
                <a16:creationId xmlns:a16="http://schemas.microsoft.com/office/drawing/2014/main" id="{8D8E3B7E-FBE9-4A23-8356-232A0174FC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00" y="1524000"/>
            <a:ext cx="1778000" cy="1778000"/>
          </a:xfrm>
          <a:prstGeom prst="rect">
            <a:avLst/>
          </a:prstGeom>
        </p:spPr>
      </p:pic>
      <p:sp>
        <p:nvSpPr>
          <p:cNvPr id="11" name="Rectangle 10">
            <a:hlinkClick r:id="rId2"/>
            <a:extLst>
              <a:ext uri="{FF2B5EF4-FFF2-40B4-BE49-F238E27FC236}">
                <a16:creationId xmlns:a16="http://schemas.microsoft.com/office/drawing/2014/main" id="{7A884BF0-EE2C-4EAE-9F03-9FD4892FBDD1}"/>
              </a:ext>
            </a:extLst>
          </p:cNvPr>
          <p:cNvSpPr/>
          <p:nvPr/>
        </p:nvSpPr>
        <p:spPr>
          <a:xfrm>
            <a:off x="2374900" y="1397000"/>
            <a:ext cx="1968500" cy="254000"/>
          </a:xfrm>
          <a:prstGeom prst="rect">
            <a:avLst/>
          </a:prstGeom>
          <a:solidFill>
            <a:srgbClr val="FFE8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25400" rtlCol="0" anchor="ctr"/>
          <a:lstStyle/>
          <a:p>
            <a:pPr algn="ctr"/>
            <a:r>
              <a:rPr lang="en-US" sz="850" b="1">
                <a:solidFill>
                  <a:srgbClr val="ED3A7C"/>
                </a:solidFill>
                <a:latin typeface="Segoe UI" panose="020B0502040204020203" pitchFamily="34" charset="0"/>
              </a:rPr>
              <a:t>[1. BEYOND SCOPE &amp; BOUNDARIES]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CDD5BD-6BBE-432C-A7E6-924852538508}"/>
              </a:ext>
            </a:extLst>
          </p:cNvPr>
          <p:cNvSpPr txBox="1"/>
          <p:nvPr/>
        </p:nvSpPr>
        <p:spPr>
          <a:xfrm>
            <a:off x="2374900" y="1676400"/>
            <a:ext cx="3467100" cy="25391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50" b="1">
                <a:solidFill>
                  <a:srgbClr val="2A170F"/>
                </a:solidFill>
                <a:latin typeface="Segoe UI" panose="020B0502040204020203" pitchFamily="34" charset="0"/>
              </a:rPr>
              <a:t>1. Beyond Scope - Non-Tech AI Breakthrough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1345DF-3352-4F5B-883C-F0E801FE9D25}"/>
              </a:ext>
            </a:extLst>
          </p:cNvPr>
          <p:cNvSpPr txBox="1"/>
          <p:nvPr/>
        </p:nvSpPr>
        <p:spPr>
          <a:xfrm>
            <a:off x="2374900" y="1968500"/>
            <a:ext cx="34671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850">
                <a:solidFill>
                  <a:srgbClr val="554133"/>
                </a:solidFill>
                <a:latin typeface="Segoe UI" panose="020B0502040204020203" pitchFamily="34" charset="0"/>
              </a:rPr>
              <a:t>• Beyond R&amp;R Scope: As a Sales &amp; Marketing Procurement person with no IT or HR background, I built a live hiring portal using AI.
• AI Data Automation: AI auto-collects data and validates web features cleanly.</a:t>
            </a:r>
          </a:p>
        </p:txBody>
      </p:sp>
      <p:sp>
        <p:nvSpPr>
          <p:cNvPr id="14" name="Rectangle 13">
            <a:hlinkClick r:id="rId2"/>
            <a:extLst>
              <a:ext uri="{FF2B5EF4-FFF2-40B4-BE49-F238E27FC236}">
                <a16:creationId xmlns:a16="http://schemas.microsoft.com/office/drawing/2014/main" id="{6C27A57E-991D-4492-82A3-FCF2AC188E7D}"/>
              </a:ext>
            </a:extLst>
          </p:cNvPr>
          <p:cNvSpPr/>
          <p:nvPr/>
        </p:nvSpPr>
        <p:spPr>
          <a:xfrm>
            <a:off x="2374900" y="3149600"/>
            <a:ext cx="1841500" cy="254000"/>
          </a:xfrm>
          <a:prstGeom prst="rect">
            <a:avLst/>
          </a:prstGeom>
          <a:solidFill>
            <a:srgbClr val="ED3A7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tlCol="0" anchor="ctr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Segoe UI" panose="020B0502040204020203" pitchFamily="34" charset="0"/>
              </a:rPr>
              <a:t>Live Website Product</a:t>
            </a:r>
          </a:p>
        </p:txBody>
      </p:sp>
      <p:sp>
        <p:nvSpPr>
          <p:cNvPr id="15" name="Rectangle 14">
            <a:hlinkClick r:id="rId2"/>
            <a:extLst>
              <a:ext uri="{FF2B5EF4-FFF2-40B4-BE49-F238E27FC236}">
                <a16:creationId xmlns:a16="http://schemas.microsoft.com/office/drawing/2014/main" id="{31F1CC93-07FA-4F38-8348-E303916C9867}"/>
              </a:ext>
            </a:extLst>
          </p:cNvPr>
          <p:cNvSpPr/>
          <p:nvPr/>
        </p:nvSpPr>
        <p:spPr>
          <a:xfrm>
            <a:off x="6223000" y="1270000"/>
            <a:ext cx="565150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F0E8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hlinkClick r:id="rId2"/>
            <a:extLst>
              <a:ext uri="{FF2B5EF4-FFF2-40B4-BE49-F238E27FC236}">
                <a16:creationId xmlns:a16="http://schemas.microsoft.com/office/drawing/2014/main" id="{BE0DD09B-F764-432D-8D0A-0EE9571169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5400" y="1524000"/>
            <a:ext cx="1778000" cy="1778000"/>
          </a:xfrm>
          <a:prstGeom prst="rect">
            <a:avLst/>
          </a:prstGeom>
        </p:spPr>
      </p:pic>
      <p:sp>
        <p:nvSpPr>
          <p:cNvPr id="18" name="Rectangle 17">
            <a:hlinkClick r:id="rId2"/>
            <a:extLst>
              <a:ext uri="{FF2B5EF4-FFF2-40B4-BE49-F238E27FC236}">
                <a16:creationId xmlns:a16="http://schemas.microsoft.com/office/drawing/2014/main" id="{173F0EAA-DC18-4810-BB36-B69C27BB8620}"/>
              </a:ext>
            </a:extLst>
          </p:cNvPr>
          <p:cNvSpPr/>
          <p:nvPr/>
        </p:nvSpPr>
        <p:spPr>
          <a:xfrm>
            <a:off x="8280400" y="1397000"/>
            <a:ext cx="1968500" cy="254000"/>
          </a:xfrm>
          <a:prstGeom prst="rect">
            <a:avLst/>
          </a:prstGeom>
          <a:solidFill>
            <a:srgbClr val="FEEAD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25400" rtlCol="0" anchor="ctr"/>
          <a:lstStyle/>
          <a:p>
            <a:pPr algn="ctr"/>
            <a:r>
              <a:rPr lang="en-US" sz="850" b="1">
                <a:solidFill>
                  <a:srgbClr val="D84E1D"/>
                </a:solidFill>
                <a:latin typeface="Segoe UI" panose="020B0502040204020203" pitchFamily="34" charset="0"/>
              </a:rPr>
              <a:t>[2. STRATEGIC SOURCING]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5A5A24-E0BE-4F63-A9F2-A319DA5DCC5A}"/>
              </a:ext>
            </a:extLst>
          </p:cNvPr>
          <p:cNvSpPr txBox="1"/>
          <p:nvPr/>
        </p:nvSpPr>
        <p:spPr>
          <a:xfrm>
            <a:off x="8280400" y="1676400"/>
            <a:ext cx="3467100" cy="25391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50" b="1">
                <a:solidFill>
                  <a:srgbClr val="2A170F"/>
                </a:solidFill>
                <a:latin typeface="Segoe UI" panose="020B0502040204020203" pitchFamily="34" charset="0"/>
              </a:rPr>
              <a:t>2. Strategic Sourcing - Modern Candidate UI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EEECBB-34D4-42F5-926D-6C9AC31F4A22}"/>
              </a:ext>
            </a:extLst>
          </p:cNvPr>
          <p:cNvSpPr txBox="1"/>
          <p:nvPr/>
        </p:nvSpPr>
        <p:spPr>
          <a:xfrm>
            <a:off x="8280400" y="1968500"/>
            <a:ext cx="34671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850">
                <a:solidFill>
                  <a:srgbClr val="554133"/>
                </a:solidFill>
                <a:latin typeface="Segoe UI" panose="020B0502040204020203" pitchFamily="34" charset="0"/>
              </a:rPr>
              <a:t>• Digital Experience: Fast 1-Click apply with official LG Brand Identity (Life's Good).
• High Credibility: Direct links to official LG sites, showing daily real activities, company history, and team stories.</a:t>
            </a:r>
          </a:p>
        </p:txBody>
      </p:sp>
      <p:sp>
        <p:nvSpPr>
          <p:cNvPr id="21" name="Rectangle 20">
            <a:hlinkClick r:id="rId2"/>
            <a:extLst>
              <a:ext uri="{FF2B5EF4-FFF2-40B4-BE49-F238E27FC236}">
                <a16:creationId xmlns:a16="http://schemas.microsoft.com/office/drawing/2014/main" id="{3B7B2D68-F48A-4BBA-A132-5D4F97AC863F}"/>
              </a:ext>
            </a:extLst>
          </p:cNvPr>
          <p:cNvSpPr/>
          <p:nvPr/>
        </p:nvSpPr>
        <p:spPr>
          <a:xfrm>
            <a:off x="8280400" y="3149600"/>
            <a:ext cx="1841500" cy="254000"/>
          </a:xfrm>
          <a:prstGeom prst="rect">
            <a:avLst/>
          </a:prstGeom>
          <a:solidFill>
            <a:srgbClr val="D84E1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tlCol="0" anchor="ctr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Segoe UI" panose="020B0502040204020203" pitchFamily="34" charset="0"/>
              </a:rPr>
              <a:t>Execution Velocity</a:t>
            </a:r>
          </a:p>
        </p:txBody>
      </p:sp>
      <p:sp>
        <p:nvSpPr>
          <p:cNvPr id="22" name="Rectangle 21">
            <a:hlinkClick r:id="rId2"/>
            <a:extLst>
              <a:ext uri="{FF2B5EF4-FFF2-40B4-BE49-F238E27FC236}">
                <a16:creationId xmlns:a16="http://schemas.microsoft.com/office/drawing/2014/main" id="{0BE3CF57-C0F9-45EE-8ED3-FF1474E1E05C}"/>
              </a:ext>
            </a:extLst>
          </p:cNvPr>
          <p:cNvSpPr/>
          <p:nvPr/>
        </p:nvSpPr>
        <p:spPr>
          <a:xfrm>
            <a:off x="317500" y="3657600"/>
            <a:ext cx="565150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F0E8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>
            <a:hlinkClick r:id="rId2"/>
            <a:extLst>
              <a:ext uri="{FF2B5EF4-FFF2-40B4-BE49-F238E27FC236}">
                <a16:creationId xmlns:a16="http://schemas.microsoft.com/office/drawing/2014/main" id="{C2002DD9-8327-4036-BA63-133F3C19EB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00" y="3911600"/>
            <a:ext cx="1778000" cy="1778000"/>
          </a:xfrm>
          <a:prstGeom prst="rect">
            <a:avLst/>
          </a:prstGeom>
        </p:spPr>
      </p:pic>
      <p:sp>
        <p:nvSpPr>
          <p:cNvPr id="25" name="Rectangle 24">
            <a:hlinkClick r:id="rId2"/>
            <a:extLst>
              <a:ext uri="{FF2B5EF4-FFF2-40B4-BE49-F238E27FC236}">
                <a16:creationId xmlns:a16="http://schemas.microsoft.com/office/drawing/2014/main" id="{DF32F3C1-2762-45F8-B2D9-4CBC4F521963}"/>
              </a:ext>
            </a:extLst>
          </p:cNvPr>
          <p:cNvSpPr/>
          <p:nvPr/>
        </p:nvSpPr>
        <p:spPr>
          <a:xfrm>
            <a:off x="2374900" y="3784600"/>
            <a:ext cx="1968500" cy="254000"/>
          </a:xfrm>
          <a:prstGeom prst="rect">
            <a:avLst/>
          </a:prstGeom>
          <a:solidFill>
            <a:srgbClr val="F3E8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25400" rtlCol="0" anchor="ctr"/>
          <a:lstStyle/>
          <a:p>
            <a:pPr algn="ctr"/>
            <a:r>
              <a:rPr lang="en-US" sz="850" b="1">
                <a:solidFill>
                  <a:srgbClr val="A50034"/>
                </a:solidFill>
                <a:latin typeface="Segoe UI" panose="020B0502040204020203" pitchFamily="34" charset="0"/>
              </a:rPr>
              <a:t>[3. PROACTIVE RISK MITIGATION]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B3CECA9-9D31-4C76-B89F-C69FCFFDC8F5}"/>
              </a:ext>
            </a:extLst>
          </p:cNvPr>
          <p:cNvSpPr txBox="1"/>
          <p:nvPr/>
        </p:nvSpPr>
        <p:spPr>
          <a:xfrm>
            <a:off x="2374900" y="4064000"/>
            <a:ext cx="3467100" cy="25391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50" b="1">
                <a:solidFill>
                  <a:srgbClr val="2A170F"/>
                </a:solidFill>
                <a:latin typeface="Segoe UI" panose="020B0502040204020203" pitchFamily="34" charset="0"/>
              </a:rPr>
              <a:t>3. Proactive Risk Control - SVC Sourcing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3C81065-CADE-43B9-BEAC-F804507FC8BD}"/>
              </a:ext>
            </a:extLst>
          </p:cNvPr>
          <p:cNvSpPr txBox="1"/>
          <p:nvPr/>
        </p:nvSpPr>
        <p:spPr>
          <a:xfrm>
            <a:off x="2374900" y="4356100"/>
            <a:ext cx="34671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850">
                <a:solidFill>
                  <a:srgbClr val="554133"/>
                </a:solidFill>
                <a:latin typeface="Segoe UI" panose="020B0502040204020203" pitchFamily="34" charset="0"/>
              </a:rPr>
              <a:t>• Early Risk Control: Dual-sourcing model (Direct LG Job Portal + Market Agency Integration) to prevent technician shortage.
• Visual Job Insight: Real Premier Care video clips help candidates easily visualize their daily work.</a:t>
            </a:r>
          </a:p>
        </p:txBody>
      </p:sp>
      <p:sp>
        <p:nvSpPr>
          <p:cNvPr id="28" name="Rectangle 27">
            <a:hlinkClick r:id="rId2"/>
            <a:extLst>
              <a:ext uri="{FF2B5EF4-FFF2-40B4-BE49-F238E27FC236}">
                <a16:creationId xmlns:a16="http://schemas.microsoft.com/office/drawing/2014/main" id="{61C0A547-0F52-4CA9-834E-C9E1900F954F}"/>
              </a:ext>
            </a:extLst>
          </p:cNvPr>
          <p:cNvSpPr/>
          <p:nvPr/>
        </p:nvSpPr>
        <p:spPr>
          <a:xfrm>
            <a:off x="2374900" y="5537200"/>
            <a:ext cx="1841500" cy="254000"/>
          </a:xfrm>
          <a:prstGeom prst="rect">
            <a:avLst/>
          </a:prstGeom>
          <a:solidFill>
            <a:srgbClr val="A500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tlCol="0" anchor="ctr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Segoe UI" panose="020B0502040204020203" pitchFamily="34" charset="0"/>
              </a:rPr>
              <a:t>2 Hiring Solutions</a:t>
            </a:r>
          </a:p>
        </p:txBody>
      </p:sp>
      <p:sp>
        <p:nvSpPr>
          <p:cNvPr id="29" name="Rectangle 28">
            <a:hlinkClick r:id="rId2"/>
            <a:extLst>
              <a:ext uri="{FF2B5EF4-FFF2-40B4-BE49-F238E27FC236}">
                <a16:creationId xmlns:a16="http://schemas.microsoft.com/office/drawing/2014/main" id="{4C6368E0-8923-49A9-96F1-A56DA0B82F64}"/>
              </a:ext>
            </a:extLst>
          </p:cNvPr>
          <p:cNvSpPr/>
          <p:nvPr/>
        </p:nvSpPr>
        <p:spPr>
          <a:xfrm>
            <a:off x="6223000" y="3657600"/>
            <a:ext cx="565150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F0E8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>
            <a:hlinkClick r:id="rId2"/>
            <a:extLst>
              <a:ext uri="{FF2B5EF4-FFF2-40B4-BE49-F238E27FC236}">
                <a16:creationId xmlns:a16="http://schemas.microsoft.com/office/drawing/2014/main" id="{DBB92221-E11D-4D96-BB6E-0BD702DC6C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5400" y="3911600"/>
            <a:ext cx="1778000" cy="1778000"/>
          </a:xfrm>
          <a:prstGeom prst="rect">
            <a:avLst/>
          </a:prstGeom>
        </p:spPr>
      </p:pic>
      <p:sp>
        <p:nvSpPr>
          <p:cNvPr id="32" name="Rectangle 31">
            <a:hlinkClick r:id="rId2"/>
            <a:extLst>
              <a:ext uri="{FF2B5EF4-FFF2-40B4-BE49-F238E27FC236}">
                <a16:creationId xmlns:a16="http://schemas.microsoft.com/office/drawing/2014/main" id="{A085BB02-AA64-4524-BE6E-05AB21C59294}"/>
              </a:ext>
            </a:extLst>
          </p:cNvPr>
          <p:cNvSpPr/>
          <p:nvPr/>
        </p:nvSpPr>
        <p:spPr>
          <a:xfrm>
            <a:off x="8280400" y="3784600"/>
            <a:ext cx="1968500" cy="254000"/>
          </a:xfrm>
          <a:prstGeom prst="rect">
            <a:avLst/>
          </a:prstGeom>
          <a:solidFill>
            <a:srgbClr val="E7FC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25400" rtlCol="0" anchor="ctr"/>
          <a:lstStyle/>
          <a:p>
            <a:pPr algn="ctr"/>
            <a:r>
              <a:rPr lang="en-US" sz="850" b="1">
                <a:solidFill>
                  <a:srgbClr val="3D8015"/>
                </a:solidFill>
                <a:latin typeface="Segoe UI" panose="020B0502040204020203" pitchFamily="34" charset="0"/>
              </a:rPr>
              <a:t>[4. CROSS-DEPT SYNERGY]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4208B25-4FF1-452F-B36B-295FC66D3C72}"/>
              </a:ext>
            </a:extLst>
          </p:cNvPr>
          <p:cNvSpPr txBox="1"/>
          <p:nvPr/>
        </p:nvSpPr>
        <p:spPr>
          <a:xfrm>
            <a:off x="8280400" y="4064000"/>
            <a:ext cx="3467100" cy="25391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50" b="1">
                <a:solidFill>
                  <a:srgbClr val="2A170F"/>
                </a:solidFill>
                <a:latin typeface="Segoe UI" panose="020B0502040204020203" pitchFamily="34" charset="0"/>
              </a:rPr>
              <a:t>4. HR Automation - Cross-Dept Synergy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29CC0D6-F1E6-429E-97A5-6A28C4A9BE2C}"/>
              </a:ext>
            </a:extLst>
          </p:cNvPr>
          <p:cNvSpPr txBox="1"/>
          <p:nvPr/>
        </p:nvSpPr>
        <p:spPr>
          <a:xfrm>
            <a:off x="8280400" y="4356100"/>
            <a:ext cx="34671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850">
                <a:solidFill>
                  <a:srgbClr val="554133"/>
                </a:solidFill>
                <a:latin typeface="Segoe UI" panose="020B0502040204020203" pitchFamily="34" charset="0"/>
              </a:rPr>
              <a:t>• Auto Workflow: Real-time Excel report generation &amp; instant email alerts to HR team.
• Zero Info Gap: Completely removes communication barriers between HR team and Service team.</a:t>
            </a:r>
          </a:p>
        </p:txBody>
      </p:sp>
      <p:sp>
        <p:nvSpPr>
          <p:cNvPr id="35" name="Rectangle 34">
            <a:hlinkClick r:id="rId2"/>
            <a:extLst>
              <a:ext uri="{FF2B5EF4-FFF2-40B4-BE49-F238E27FC236}">
                <a16:creationId xmlns:a16="http://schemas.microsoft.com/office/drawing/2014/main" id="{E0F91079-DF4A-4801-B166-0FC1FECCE46B}"/>
              </a:ext>
            </a:extLst>
          </p:cNvPr>
          <p:cNvSpPr/>
          <p:nvPr/>
        </p:nvSpPr>
        <p:spPr>
          <a:xfrm>
            <a:off x="8280400" y="5537200"/>
            <a:ext cx="1841500" cy="254000"/>
          </a:xfrm>
          <a:prstGeom prst="rect">
            <a:avLst/>
          </a:prstGeom>
          <a:solidFill>
            <a:srgbClr val="3D801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tlCol="0" anchor="ctr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Segoe UI" panose="020B0502040204020203" pitchFamily="34" charset="0"/>
              </a:rPr>
              <a:t>Auto-Excel &amp; Email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E72D065-C7DE-4571-A4E1-A31F459750C2}"/>
              </a:ext>
            </a:extLst>
          </p:cNvPr>
          <p:cNvSpPr/>
          <p:nvPr/>
        </p:nvSpPr>
        <p:spPr>
          <a:xfrm>
            <a:off x="0" y="6096000"/>
            <a:ext cx="12192000" cy="76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0E8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CC6D52F-0B4D-4BA3-980C-357A433FA220}"/>
              </a:ext>
            </a:extLst>
          </p:cNvPr>
          <p:cNvSpPr txBox="1"/>
          <p:nvPr/>
        </p:nvSpPr>
        <p:spPr>
          <a:xfrm>
            <a:off x="317500" y="6223000"/>
            <a:ext cx="609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475569"/>
                </a:solidFill>
                <a:latin typeface="Segoe UI" panose="020B0502040204020203" pitchFamily="34" charset="0"/>
              </a:rPr>
              <a:t>(C) LG Electronics Vietnam - Sales &amp; Marketing Procurement
AI Partner: Antigravity AI (Google DeepMind)</a:t>
            </a:r>
          </a:p>
        </p:txBody>
      </p:sp>
      <p:sp>
        <p:nvSpPr>
          <p:cNvPr id="38" name="Rectangle 37">
            <a:hlinkClick r:id="rId2"/>
            <a:extLst>
              <a:ext uri="{FF2B5EF4-FFF2-40B4-BE49-F238E27FC236}">
                <a16:creationId xmlns:a16="http://schemas.microsoft.com/office/drawing/2014/main" id="{D97E9DDD-7746-4E69-94AD-365976050917}"/>
              </a:ext>
            </a:extLst>
          </p:cNvPr>
          <p:cNvSpPr/>
          <p:nvPr/>
        </p:nvSpPr>
        <p:spPr>
          <a:xfrm>
            <a:off x="7112000" y="6248400"/>
            <a:ext cx="4762500" cy="355600"/>
          </a:xfrm>
          <a:prstGeom prst="rect">
            <a:avLst/>
          </a:prstGeom>
          <a:solidFill>
            <a:srgbClr val="A500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Segoe UI" panose="020B0502040204020203" pitchFamily="34" charset="0"/>
              </a:rPr>
              <a:t>Live Portal: https://emsaunguyen-ship-it.github.io/Tuyen-Dung-LG-Hanoi/?v=12</a:t>
            </a:r>
          </a:p>
        </p:txBody>
      </p:sp>
    </p:spTree>
    <p:extLst>
      <p:ext uri="{BB962C8B-B14F-4D97-AF65-F5344CB8AC3E}">
        <p14:creationId xmlns:p14="http://schemas.microsoft.com/office/powerpoint/2010/main" val="15218362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665</Words>
  <Application>Microsoft Office PowerPoint</Application>
  <PresentationFormat>Custom</PresentationFormat>
  <Paragraphs>42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Segoe UI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THUY KHANH NGUYEN/Team Leader/LGEVH NORTH GENERAL  PROCUREMENT</dc:creator>
  <cp:lastModifiedBy>THUY KHANH NGUYEN/Team Leader/LGEVH NORTH GENERAL  PROCUREMENT</cp:lastModifiedBy>
  <cp:revision>1</cp:revision>
  <dcterms:created xsi:type="dcterms:W3CDTF">2026-08-14T10:23:38Z</dcterms:created>
  <dcterms:modified xsi:type="dcterms:W3CDTF">2026-08-14T10:23:38Z</dcterms:modified>
</cp:coreProperties>
</file>